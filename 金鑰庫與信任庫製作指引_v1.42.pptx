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92" r:id="rId3"/>
    <p:sldId id="272" r:id="rId4"/>
    <p:sldId id="259" r:id="rId5"/>
    <p:sldId id="274" r:id="rId6"/>
    <p:sldId id="275" r:id="rId7"/>
    <p:sldId id="276" r:id="rId8"/>
    <p:sldId id="277" r:id="rId9"/>
    <p:sldId id="279" r:id="rId10"/>
    <p:sldId id="280" r:id="rId11"/>
    <p:sldId id="281" r:id="rId12"/>
    <p:sldId id="283" r:id="rId13"/>
    <p:sldId id="282" r:id="rId14"/>
    <p:sldId id="284" r:id="rId15"/>
    <p:sldId id="285" r:id="rId16"/>
    <p:sldId id="297" r:id="rId17"/>
    <p:sldId id="287" r:id="rId18"/>
    <p:sldId id="288" r:id="rId19"/>
    <p:sldId id="290" r:id="rId20"/>
    <p:sldId id="291" r:id="rId21"/>
    <p:sldId id="293" r:id="rId22"/>
    <p:sldId id="294" r:id="rId23"/>
    <p:sldId id="267" r:id="rId24"/>
    <p:sldId id="295" r:id="rId25"/>
    <p:sldId id="296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538F35A-F3AA-49D6-BB11-5C63ECB32C9C}">
          <p14:sldIdLst>
            <p14:sldId id="256"/>
          </p14:sldIdLst>
        </p14:section>
        <p14:section name="前言" id="{B5B52239-0398-4DE4-8A7D-DF79E402B278}">
          <p14:sldIdLst>
            <p14:sldId id="292"/>
          </p14:sldIdLst>
        </p14:section>
        <p14:section name="製作keystore" id="{69444987-E1ED-4395-9466-12B274EFBF32}">
          <p14:sldIdLst>
            <p14:sldId id="272"/>
            <p14:sldId id="259"/>
            <p14:sldId id="274"/>
            <p14:sldId id="275"/>
            <p14:sldId id="276"/>
            <p14:sldId id="277"/>
            <p14:sldId id="279"/>
            <p14:sldId id="280"/>
            <p14:sldId id="281"/>
            <p14:sldId id="283"/>
            <p14:sldId id="282"/>
            <p14:sldId id="284"/>
            <p14:sldId id="285"/>
            <p14:sldId id="297"/>
            <p14:sldId id="287"/>
            <p14:sldId id="288"/>
          </p14:sldIdLst>
        </p14:section>
        <p14:section name="製作truststore" id="{417FB75A-344D-4BFB-AE92-89B32633A28C}">
          <p14:sldIdLst>
            <p14:sldId id="290"/>
            <p14:sldId id="291"/>
            <p14:sldId id="293"/>
            <p14:sldId id="294"/>
          </p14:sldIdLst>
        </p14:section>
        <p14:section name="金鑰庫與信任庫上傳安控伺服器" id="{3BCD2D20-628A-40EB-B560-AD9B2979EE56}">
          <p14:sldIdLst>
            <p14:sldId id="267"/>
          </p14:sldIdLst>
        </p14:section>
        <p14:section name="10、將憑證密碼以Secrect Key加密" id="{B26BD3B0-3803-4369-BEDA-2035D67F91C9}">
          <p14:sldIdLst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171"/>
    <a:srgbClr val="3144CD"/>
    <a:srgbClr val="BB2D2D"/>
    <a:srgbClr val="F2F2F2"/>
    <a:srgbClr val="4F9EE3"/>
    <a:srgbClr val="333333"/>
    <a:srgbClr val="F0FAFF"/>
    <a:srgbClr val="191919"/>
    <a:srgbClr val="43162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8BA176-FFE4-465A-84DB-33677C3CC45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2AE97B46-B610-4FE5-B344-3266B7CB8ED7}">
      <dgm:prSet phldrT="[文字]" custT="1"/>
      <dgm:spPr>
        <a:solidFill>
          <a:srgbClr val="E29454"/>
        </a:solidFill>
      </dgm:spPr>
      <dgm:t>
        <a:bodyPr/>
        <a:lstStyle/>
        <a:p>
          <a:r>
            <a:rPr lang="zh-TW" altLang="en-US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產生初始金鑰對</a:t>
          </a:r>
          <a:r>
            <a:rPr lang="en-US" altLang="zh-TW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(key pair)</a:t>
          </a:r>
          <a:endParaRPr lang="zh-TW" altLang="en-US" sz="1600" b="1" dirty="0">
            <a:solidFill>
              <a:schemeClr val="tx1"/>
            </a:solidFill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2A9F1679-2EC5-4F95-B269-075A927C5D15}" type="parTrans" cxnId="{2B52CE96-DBD3-407E-9227-24FFF32DA974}">
      <dgm:prSet/>
      <dgm:spPr/>
      <dgm:t>
        <a:bodyPr/>
        <a:lstStyle/>
        <a:p>
          <a:endParaRPr lang="zh-TW" altLang="en-US" sz="1600"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011F33AB-8A0E-4272-9843-C0B2CF19D45D}" type="sibTrans" cxnId="{2B52CE96-DBD3-407E-9227-24FFF32DA974}">
      <dgm:prSet/>
      <dgm:spPr/>
      <dgm:t>
        <a:bodyPr/>
        <a:lstStyle/>
        <a:p>
          <a:endParaRPr lang="zh-TW" altLang="en-US" sz="1600"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3639789A-D86F-463E-8AA4-D777D6389CB4}">
      <dgm:prSet phldrT="[文字]" custT="1"/>
      <dgm:spPr>
        <a:solidFill>
          <a:srgbClr val="E29454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8009" tIns="22670" rIns="22670" bIns="22670" numCol="1" spcCol="1270" anchor="ctr" anchorCtr="0"/>
        <a:lstStyle/>
        <a:p>
          <a:r>
            <a:rPr lang="zh-TW" altLang="en-US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以初始金鑰對產生憑證請求檔</a:t>
          </a:r>
          <a:r>
            <a:rPr lang="en-US" altLang="zh-TW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(.</a:t>
          </a:r>
          <a:r>
            <a:rPr lang="en-US" altLang="zh-TW" sz="1600" b="1" dirty="0" err="1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csr</a:t>
          </a:r>
          <a:r>
            <a:rPr lang="en-US" altLang="zh-TW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)</a:t>
          </a:r>
          <a:endParaRPr lang="zh-TW" altLang="en-US" sz="1600" b="1" dirty="0">
            <a:solidFill>
              <a:schemeClr val="tx1"/>
            </a:solidFill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09BA5D51-C35A-4ADC-BA2C-49E37730AF1B}" type="parTrans" cxnId="{6D395768-F8DB-4AA8-9469-16FA59665E3A}">
      <dgm:prSet/>
      <dgm:spPr/>
      <dgm:t>
        <a:bodyPr/>
        <a:lstStyle/>
        <a:p>
          <a:endParaRPr lang="zh-TW" altLang="en-US" sz="1600"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9849D3DF-A0D7-4371-83D4-2686E287DAF9}" type="sibTrans" cxnId="{6D395768-F8DB-4AA8-9469-16FA59665E3A}">
      <dgm:prSet/>
      <dgm:spPr/>
      <dgm:t>
        <a:bodyPr/>
        <a:lstStyle/>
        <a:p>
          <a:endParaRPr lang="zh-TW" altLang="en-US" sz="1600"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A1013083-F117-41FD-8707-C082506C8A6B}">
      <dgm:prSet phldrT="[文字]" custT="1"/>
      <dgm:spPr>
        <a:solidFill>
          <a:srgbClr val="E29454"/>
        </a:solidFill>
      </dgm:spPr>
      <dgm:t>
        <a:bodyPr/>
        <a:lstStyle/>
        <a:p>
          <a:r>
            <a:rPr lang="zh-TW" altLang="en-US" sz="1600" b="1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以</a:t>
          </a:r>
          <a:r>
            <a:rPr lang="en-US" altLang="zh-TW" sz="1600" b="1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.csr</a:t>
          </a:r>
          <a:r>
            <a:rPr lang="zh-TW" altLang="en-US" sz="1600" b="1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向</a:t>
          </a:r>
          <a:r>
            <a:rPr lang="en-US" altLang="zh-TW" sz="1600" b="1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GCA</a:t>
          </a:r>
          <a:br>
            <a:rPr lang="en-US" altLang="zh-TW" sz="1600" b="1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</a:br>
          <a:r>
            <a:rPr lang="zh-TW" altLang="en-US" sz="1600" b="1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申請憑證</a:t>
          </a:r>
          <a:endParaRPr lang="zh-TW" altLang="en-US" sz="1600" b="1" dirty="0">
            <a:solidFill>
              <a:schemeClr val="tx1"/>
            </a:solidFill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3E897E87-6FFB-455D-905C-A957A5FD47B7}" type="parTrans" cxnId="{B72B6A85-9256-41E9-9252-12D3E8002526}">
      <dgm:prSet/>
      <dgm:spPr/>
      <dgm:t>
        <a:bodyPr/>
        <a:lstStyle/>
        <a:p>
          <a:endParaRPr lang="zh-TW" altLang="en-US" sz="1600"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CDD27307-1247-4281-8FBF-344842C2AB0A}" type="sibTrans" cxnId="{B72B6A85-9256-41E9-9252-12D3E8002526}">
      <dgm:prSet/>
      <dgm:spPr/>
      <dgm:t>
        <a:bodyPr/>
        <a:lstStyle/>
        <a:p>
          <a:endParaRPr lang="zh-TW" altLang="en-US" sz="1600"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B15A1BFD-E1F0-4342-A8F9-C5DDC6AE0DA6}">
      <dgm:prSet custT="1"/>
      <dgm:spPr>
        <a:solidFill>
          <a:srgbClr val="E29454"/>
        </a:solidFill>
      </dgm:spPr>
      <dgm:t>
        <a:bodyPr/>
        <a:lstStyle/>
        <a:p>
          <a:r>
            <a:rPr lang="zh-TW" altLang="en-US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取得</a:t>
          </a:r>
          <a:r>
            <a:rPr lang="en-US" altLang="zh-TW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GCA</a:t>
          </a:r>
          <a:r>
            <a:rPr lang="zh-TW" altLang="en-US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核發</a:t>
          </a:r>
          <a:br>
            <a:rPr lang="en-US" altLang="zh-TW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</a:br>
          <a:r>
            <a:rPr lang="zh-TW" altLang="en-US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憑證公鑰</a:t>
          </a:r>
          <a:r>
            <a:rPr lang="en-US" altLang="zh-TW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(.</a:t>
          </a:r>
          <a:r>
            <a:rPr lang="en-US" altLang="zh-TW" sz="1600" b="1" dirty="0" err="1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cer</a:t>
          </a:r>
          <a:r>
            <a:rPr lang="en-US" altLang="zh-TW" sz="1600" b="1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)</a:t>
          </a:r>
          <a:endParaRPr lang="zh-TW" altLang="en-US" sz="1600" dirty="0"/>
        </a:p>
      </dgm:t>
    </dgm:pt>
    <dgm:pt modelId="{0F54ACEA-2FAC-4A41-90A3-F10795C31C47}" type="parTrans" cxnId="{300B5E5C-027A-4B62-B795-734B5D190FD4}">
      <dgm:prSet/>
      <dgm:spPr/>
      <dgm:t>
        <a:bodyPr/>
        <a:lstStyle/>
        <a:p>
          <a:endParaRPr lang="zh-TW" altLang="en-US" sz="1600"/>
        </a:p>
      </dgm:t>
    </dgm:pt>
    <dgm:pt modelId="{37537388-C5BA-4508-87A9-17F4BA5A35C3}" type="sibTrans" cxnId="{300B5E5C-027A-4B62-B795-734B5D190FD4}">
      <dgm:prSet/>
      <dgm:spPr/>
      <dgm:t>
        <a:bodyPr/>
        <a:lstStyle/>
        <a:p>
          <a:endParaRPr lang="zh-TW" altLang="en-US" sz="1600"/>
        </a:p>
      </dgm:t>
    </dgm:pt>
    <dgm:pt modelId="{E29F8575-D958-443F-8B62-AF5ECFCD566B}">
      <dgm:prSet custT="1"/>
      <dgm:spPr>
        <a:solidFill>
          <a:srgbClr val="E29454"/>
        </a:solidFill>
      </dgm:spPr>
      <dgm:t>
        <a:bodyPr/>
        <a:lstStyle/>
        <a:p>
          <a:r>
            <a:rPr lang="zh-TW" altLang="en-US" sz="1600" b="1" dirty="0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將</a:t>
          </a:r>
          <a:r>
            <a:rPr lang="en-US" altLang="zh-TW" sz="1600" b="1" dirty="0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.</a:t>
          </a:r>
          <a:r>
            <a:rPr lang="en-US" altLang="zh-TW" sz="1600" b="1" dirty="0" err="1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cer</a:t>
          </a:r>
          <a:r>
            <a:rPr lang="zh-TW" altLang="en-US" sz="1600" b="1" dirty="0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加入金鑰對以產生</a:t>
          </a:r>
          <a:r>
            <a:rPr lang="en-US" altLang="zh-TW" sz="1600" b="1" dirty="0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.pem</a:t>
          </a:r>
          <a:r>
            <a:rPr lang="zh-TW" altLang="en-US" sz="1600" b="1" dirty="0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檔</a:t>
          </a:r>
          <a:endParaRPr lang="zh-TW" altLang="en-US" sz="1600" dirty="0"/>
        </a:p>
      </dgm:t>
    </dgm:pt>
    <dgm:pt modelId="{E2915DBE-6DC5-4C59-8710-17A69624176F}" type="parTrans" cxnId="{4D0F6D80-125A-4C62-9028-114E85FA4488}">
      <dgm:prSet/>
      <dgm:spPr/>
      <dgm:t>
        <a:bodyPr/>
        <a:lstStyle/>
        <a:p>
          <a:endParaRPr lang="zh-TW" altLang="en-US" sz="1600"/>
        </a:p>
      </dgm:t>
    </dgm:pt>
    <dgm:pt modelId="{BBE5561D-7323-470B-BEC2-C63055C8E5A9}" type="sibTrans" cxnId="{4D0F6D80-125A-4C62-9028-114E85FA4488}">
      <dgm:prSet/>
      <dgm:spPr/>
      <dgm:t>
        <a:bodyPr/>
        <a:lstStyle/>
        <a:p>
          <a:endParaRPr lang="zh-TW" altLang="en-US" sz="1600"/>
        </a:p>
      </dgm:t>
    </dgm:pt>
    <dgm:pt modelId="{8D1D4B53-37E2-441D-AE7E-74B4013B9A15}" type="pres">
      <dgm:prSet presAssocID="{FA8BA176-FFE4-465A-84DB-33677C3CC451}" presName="Name0" presStyleCnt="0">
        <dgm:presLayoutVars>
          <dgm:dir/>
          <dgm:animLvl val="lvl"/>
          <dgm:resizeHandles val="exact"/>
        </dgm:presLayoutVars>
      </dgm:prSet>
      <dgm:spPr/>
    </dgm:pt>
    <dgm:pt modelId="{B995A7BF-A464-49F5-82F9-C4EEC3FFB776}" type="pres">
      <dgm:prSet presAssocID="{2AE97B46-B610-4FE5-B344-3266B7CB8ED7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32494CBB-113E-4CFD-8A48-16E118E8B675}" type="pres">
      <dgm:prSet presAssocID="{011F33AB-8A0E-4272-9843-C0B2CF19D45D}" presName="parTxOnlySpace" presStyleCnt="0"/>
      <dgm:spPr/>
    </dgm:pt>
    <dgm:pt modelId="{9E85387C-F7A0-4553-A1DA-EF5F558B0710}" type="pres">
      <dgm:prSet presAssocID="{3639789A-D86F-463E-8AA4-D777D6389CB4}" presName="parTxOnly" presStyleLbl="node1" presStyleIdx="1" presStyleCnt="5">
        <dgm:presLayoutVars>
          <dgm:chMax val="0"/>
          <dgm:chPref val="0"/>
          <dgm:bulletEnabled val="1"/>
        </dgm:presLayoutVars>
      </dgm:prSet>
      <dgm:spPr>
        <a:xfrm>
          <a:off x="2412545" y="109953"/>
          <a:ext cx="2675499" cy="1070199"/>
        </a:xfrm>
        <a:prstGeom prst="chevron">
          <a:avLst/>
        </a:prstGeom>
      </dgm:spPr>
    </dgm:pt>
    <dgm:pt modelId="{006A40F3-C55E-486D-8F01-1FD72405FFE2}" type="pres">
      <dgm:prSet presAssocID="{9849D3DF-A0D7-4371-83D4-2686E287DAF9}" presName="parTxOnlySpace" presStyleCnt="0"/>
      <dgm:spPr/>
    </dgm:pt>
    <dgm:pt modelId="{ACF1E5E4-DC74-46EE-827F-70C57929C781}" type="pres">
      <dgm:prSet presAssocID="{A1013083-F117-41FD-8707-C082506C8A6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CF207A6-6AEC-4F67-8CE6-25F503E52F3F}" type="pres">
      <dgm:prSet presAssocID="{CDD27307-1247-4281-8FBF-344842C2AB0A}" presName="parTxOnlySpace" presStyleCnt="0"/>
      <dgm:spPr/>
    </dgm:pt>
    <dgm:pt modelId="{C74588CB-86E2-4F76-ACFB-8A66D39B45D5}" type="pres">
      <dgm:prSet presAssocID="{B15A1BFD-E1F0-4342-A8F9-C5DDC6AE0DA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93C575C1-18DB-415C-93F0-6962B5366699}" type="pres">
      <dgm:prSet presAssocID="{37537388-C5BA-4508-87A9-17F4BA5A35C3}" presName="parTxOnlySpace" presStyleCnt="0"/>
      <dgm:spPr/>
    </dgm:pt>
    <dgm:pt modelId="{876B7D03-2C6F-415F-8252-AAFBEDC65D67}" type="pres">
      <dgm:prSet presAssocID="{E29F8575-D958-443F-8B62-AF5ECFCD566B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15F7812-A33C-4069-B3B3-D374F315980D}" type="presOf" srcId="{E29F8575-D958-443F-8B62-AF5ECFCD566B}" destId="{876B7D03-2C6F-415F-8252-AAFBEDC65D67}" srcOrd="0" destOrd="0" presId="urn:microsoft.com/office/officeart/2005/8/layout/chevron1"/>
    <dgm:cxn modelId="{4ADB212E-331F-489F-8AEC-B390ECE18A15}" type="presOf" srcId="{2AE97B46-B610-4FE5-B344-3266B7CB8ED7}" destId="{B995A7BF-A464-49F5-82F9-C4EEC3FFB776}" srcOrd="0" destOrd="0" presId="urn:microsoft.com/office/officeart/2005/8/layout/chevron1"/>
    <dgm:cxn modelId="{300B5E5C-027A-4B62-B795-734B5D190FD4}" srcId="{FA8BA176-FFE4-465A-84DB-33677C3CC451}" destId="{B15A1BFD-E1F0-4342-A8F9-C5DDC6AE0DA6}" srcOrd="3" destOrd="0" parTransId="{0F54ACEA-2FAC-4A41-90A3-F10795C31C47}" sibTransId="{37537388-C5BA-4508-87A9-17F4BA5A35C3}"/>
    <dgm:cxn modelId="{650E5B46-4E9E-41E0-B066-3D344DE6A371}" type="presOf" srcId="{A1013083-F117-41FD-8707-C082506C8A6B}" destId="{ACF1E5E4-DC74-46EE-827F-70C57929C781}" srcOrd="0" destOrd="0" presId="urn:microsoft.com/office/officeart/2005/8/layout/chevron1"/>
    <dgm:cxn modelId="{6D395768-F8DB-4AA8-9469-16FA59665E3A}" srcId="{FA8BA176-FFE4-465A-84DB-33677C3CC451}" destId="{3639789A-D86F-463E-8AA4-D777D6389CB4}" srcOrd="1" destOrd="0" parTransId="{09BA5D51-C35A-4ADC-BA2C-49E37730AF1B}" sibTransId="{9849D3DF-A0D7-4371-83D4-2686E287DAF9}"/>
    <dgm:cxn modelId="{4D0F6D80-125A-4C62-9028-114E85FA4488}" srcId="{FA8BA176-FFE4-465A-84DB-33677C3CC451}" destId="{E29F8575-D958-443F-8B62-AF5ECFCD566B}" srcOrd="4" destOrd="0" parTransId="{E2915DBE-6DC5-4C59-8710-17A69624176F}" sibTransId="{BBE5561D-7323-470B-BEC2-C63055C8E5A9}"/>
    <dgm:cxn modelId="{B72B6A85-9256-41E9-9252-12D3E8002526}" srcId="{FA8BA176-FFE4-465A-84DB-33677C3CC451}" destId="{A1013083-F117-41FD-8707-C082506C8A6B}" srcOrd="2" destOrd="0" parTransId="{3E897E87-6FFB-455D-905C-A957A5FD47B7}" sibTransId="{CDD27307-1247-4281-8FBF-344842C2AB0A}"/>
    <dgm:cxn modelId="{2B52CE96-DBD3-407E-9227-24FFF32DA974}" srcId="{FA8BA176-FFE4-465A-84DB-33677C3CC451}" destId="{2AE97B46-B610-4FE5-B344-3266B7CB8ED7}" srcOrd="0" destOrd="0" parTransId="{2A9F1679-2EC5-4F95-B269-075A927C5D15}" sibTransId="{011F33AB-8A0E-4272-9843-C0B2CF19D45D}"/>
    <dgm:cxn modelId="{98E555D3-D79C-47F7-B5DD-41CFA9E6B9B0}" type="presOf" srcId="{3639789A-D86F-463E-8AA4-D777D6389CB4}" destId="{9E85387C-F7A0-4553-A1DA-EF5F558B0710}" srcOrd="0" destOrd="0" presId="urn:microsoft.com/office/officeart/2005/8/layout/chevron1"/>
    <dgm:cxn modelId="{3C6055E2-4B6F-46BA-9575-6646CAED7F54}" type="presOf" srcId="{FA8BA176-FFE4-465A-84DB-33677C3CC451}" destId="{8D1D4B53-37E2-441D-AE7E-74B4013B9A15}" srcOrd="0" destOrd="0" presId="urn:microsoft.com/office/officeart/2005/8/layout/chevron1"/>
    <dgm:cxn modelId="{3B28FDFC-F3EF-4552-BF79-9E01D8060ECF}" type="presOf" srcId="{B15A1BFD-E1F0-4342-A8F9-C5DDC6AE0DA6}" destId="{C74588CB-86E2-4F76-ACFB-8A66D39B45D5}" srcOrd="0" destOrd="0" presId="urn:microsoft.com/office/officeart/2005/8/layout/chevron1"/>
    <dgm:cxn modelId="{AE50B6F7-F23A-4EB8-8FA9-466D9057D631}" type="presParOf" srcId="{8D1D4B53-37E2-441D-AE7E-74B4013B9A15}" destId="{B995A7BF-A464-49F5-82F9-C4EEC3FFB776}" srcOrd="0" destOrd="0" presId="urn:microsoft.com/office/officeart/2005/8/layout/chevron1"/>
    <dgm:cxn modelId="{195004B5-C950-4D9F-81F4-EEE132AEE548}" type="presParOf" srcId="{8D1D4B53-37E2-441D-AE7E-74B4013B9A15}" destId="{32494CBB-113E-4CFD-8A48-16E118E8B675}" srcOrd="1" destOrd="0" presId="urn:microsoft.com/office/officeart/2005/8/layout/chevron1"/>
    <dgm:cxn modelId="{63760F1A-C0EE-46A9-BAE8-3ABD0A922208}" type="presParOf" srcId="{8D1D4B53-37E2-441D-AE7E-74B4013B9A15}" destId="{9E85387C-F7A0-4553-A1DA-EF5F558B0710}" srcOrd="2" destOrd="0" presId="urn:microsoft.com/office/officeart/2005/8/layout/chevron1"/>
    <dgm:cxn modelId="{3F21EF78-101D-4893-A1B4-6A361DE73D99}" type="presParOf" srcId="{8D1D4B53-37E2-441D-AE7E-74B4013B9A15}" destId="{006A40F3-C55E-486D-8F01-1FD72405FFE2}" srcOrd="3" destOrd="0" presId="urn:microsoft.com/office/officeart/2005/8/layout/chevron1"/>
    <dgm:cxn modelId="{C1F22EFC-69DD-4AE7-8DBF-B629833AF9C2}" type="presParOf" srcId="{8D1D4B53-37E2-441D-AE7E-74B4013B9A15}" destId="{ACF1E5E4-DC74-46EE-827F-70C57929C781}" srcOrd="4" destOrd="0" presId="urn:microsoft.com/office/officeart/2005/8/layout/chevron1"/>
    <dgm:cxn modelId="{84E19054-257E-488D-897C-592952A84A57}" type="presParOf" srcId="{8D1D4B53-37E2-441D-AE7E-74B4013B9A15}" destId="{5CF207A6-6AEC-4F67-8CE6-25F503E52F3F}" srcOrd="5" destOrd="0" presId="urn:microsoft.com/office/officeart/2005/8/layout/chevron1"/>
    <dgm:cxn modelId="{63BAD7D5-E0F0-4152-BD66-9F1B7CC1D680}" type="presParOf" srcId="{8D1D4B53-37E2-441D-AE7E-74B4013B9A15}" destId="{C74588CB-86E2-4F76-ACFB-8A66D39B45D5}" srcOrd="6" destOrd="0" presId="urn:microsoft.com/office/officeart/2005/8/layout/chevron1"/>
    <dgm:cxn modelId="{314B6F00-E65B-4B04-96AA-A130650B61B7}" type="presParOf" srcId="{8D1D4B53-37E2-441D-AE7E-74B4013B9A15}" destId="{93C575C1-18DB-415C-93F0-6962B5366699}" srcOrd="7" destOrd="0" presId="urn:microsoft.com/office/officeart/2005/8/layout/chevron1"/>
    <dgm:cxn modelId="{57FCD87C-BEA2-4B4F-AF3C-F09E3EB66373}" type="presParOf" srcId="{8D1D4B53-37E2-441D-AE7E-74B4013B9A15}" destId="{876B7D03-2C6F-415F-8252-AAFBEDC65D67}" srcOrd="8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8BA176-FFE4-465A-84DB-33677C3CC45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2AE97B46-B610-4FE5-B344-3266B7CB8ED7}">
      <dgm:prSet phldrT="[文字]" custT="1"/>
      <dgm:spPr>
        <a:solidFill>
          <a:srgbClr val="3144CD"/>
        </a:solidFill>
      </dgm:spPr>
      <dgm:t>
        <a:bodyPr/>
        <a:lstStyle/>
        <a:p>
          <a:r>
            <a:rPr lang="zh-TW" altLang="en-US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取得</a:t>
          </a:r>
          <a:r>
            <a:rPr lang="en-US" altLang="zh-TW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GCA</a:t>
          </a:r>
          <a:r>
            <a:rPr lang="zh-TW" altLang="en-US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核發</a:t>
          </a:r>
          <a:br>
            <a:rPr lang="en-US" altLang="zh-TW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</a:br>
          <a:r>
            <a:rPr lang="zh-TW" altLang="en-US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的</a:t>
          </a:r>
          <a:r>
            <a:rPr lang="en-US" altLang="zh-TW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2</a:t>
          </a:r>
          <a:r>
            <a:rPr lang="zh-TW" altLang="en-US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份憑證檔</a:t>
          </a:r>
          <a:r>
            <a:rPr lang="en-US" altLang="zh-TW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(.</a:t>
          </a:r>
          <a:r>
            <a:rPr lang="en-US" altLang="zh-TW" sz="1600" b="1" dirty="0" err="1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cer</a:t>
          </a:r>
          <a:r>
            <a:rPr lang="en-US" altLang="zh-TW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)</a:t>
          </a:r>
          <a:endParaRPr lang="zh-TW" altLang="en-US" sz="1600" b="1" dirty="0">
            <a:solidFill>
              <a:schemeClr val="bg1"/>
            </a:solidFill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2A9F1679-2EC5-4F95-B269-075A927C5D15}" type="parTrans" cxnId="{2B52CE96-DBD3-407E-9227-24FFF32DA974}">
      <dgm:prSet/>
      <dgm:spPr/>
      <dgm:t>
        <a:bodyPr/>
        <a:lstStyle/>
        <a:p>
          <a:endParaRPr lang="zh-TW" altLang="en-US" sz="1600"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011F33AB-8A0E-4272-9843-C0B2CF19D45D}" type="sibTrans" cxnId="{2B52CE96-DBD3-407E-9227-24FFF32DA974}">
      <dgm:prSet/>
      <dgm:spPr/>
      <dgm:t>
        <a:bodyPr/>
        <a:lstStyle/>
        <a:p>
          <a:endParaRPr lang="zh-TW" altLang="en-US" sz="1600"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3639789A-D86F-463E-8AA4-D777D6389CB4}">
      <dgm:prSet phldrT="[文字]" custT="1"/>
      <dgm:spPr>
        <a:solidFill>
          <a:srgbClr val="3144CD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8009" tIns="22670" rIns="22670" bIns="22670" numCol="1" spcCol="1270" anchor="ctr" anchorCtr="0"/>
        <a:lstStyle/>
        <a:p>
          <a:r>
            <a:rPr lang="zh-TW" altLang="en-US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合併</a:t>
          </a:r>
          <a:r>
            <a:rPr lang="en-US" altLang="zh-TW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2</a:t>
          </a:r>
          <a:r>
            <a:rPr lang="zh-TW" altLang="en-US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份憑證</a:t>
          </a:r>
          <a:br>
            <a:rPr lang="en-US" altLang="zh-TW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</a:br>
          <a:r>
            <a:rPr lang="zh-TW" altLang="en-US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並儲存為</a:t>
          </a:r>
          <a:r>
            <a:rPr lang="en-US" altLang="zh-TW" sz="1600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.</a:t>
          </a:r>
          <a:r>
            <a:rPr lang="en-US" altLang="zh-TW" sz="1600" b="1" dirty="0" err="1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jks</a:t>
          </a:r>
          <a:endParaRPr lang="zh-TW" altLang="en-US" sz="1600" b="1" dirty="0">
            <a:solidFill>
              <a:schemeClr val="bg1"/>
            </a:solidFill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09BA5D51-C35A-4ADC-BA2C-49E37730AF1B}" type="parTrans" cxnId="{6D395768-F8DB-4AA8-9469-16FA59665E3A}">
      <dgm:prSet/>
      <dgm:spPr/>
      <dgm:t>
        <a:bodyPr/>
        <a:lstStyle/>
        <a:p>
          <a:endParaRPr lang="zh-TW" altLang="en-US" sz="1600"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9849D3DF-A0D7-4371-83D4-2686E287DAF9}" type="sibTrans" cxnId="{6D395768-F8DB-4AA8-9469-16FA59665E3A}">
      <dgm:prSet/>
      <dgm:spPr/>
      <dgm:t>
        <a:bodyPr/>
        <a:lstStyle/>
        <a:p>
          <a:endParaRPr lang="zh-TW" altLang="en-US" sz="1600">
            <a:latin typeface="Arial Narrow" panose="020B0606020202030204" pitchFamily="34" charset="0"/>
            <a:ea typeface="微軟正黑體" panose="020B0604030504040204" pitchFamily="34" charset="-120"/>
          </a:endParaRPr>
        </a:p>
      </dgm:t>
    </dgm:pt>
    <dgm:pt modelId="{8D1D4B53-37E2-441D-AE7E-74B4013B9A15}" type="pres">
      <dgm:prSet presAssocID="{FA8BA176-FFE4-465A-84DB-33677C3CC451}" presName="Name0" presStyleCnt="0">
        <dgm:presLayoutVars>
          <dgm:dir/>
          <dgm:animLvl val="lvl"/>
          <dgm:resizeHandles val="exact"/>
        </dgm:presLayoutVars>
      </dgm:prSet>
      <dgm:spPr/>
    </dgm:pt>
    <dgm:pt modelId="{B995A7BF-A464-49F5-82F9-C4EEC3FFB776}" type="pres">
      <dgm:prSet presAssocID="{2AE97B46-B610-4FE5-B344-3266B7CB8ED7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32494CBB-113E-4CFD-8A48-16E118E8B675}" type="pres">
      <dgm:prSet presAssocID="{011F33AB-8A0E-4272-9843-C0B2CF19D45D}" presName="parTxOnlySpace" presStyleCnt="0"/>
      <dgm:spPr/>
    </dgm:pt>
    <dgm:pt modelId="{9E85387C-F7A0-4553-A1DA-EF5F558B0710}" type="pres">
      <dgm:prSet presAssocID="{3639789A-D86F-463E-8AA4-D777D6389CB4}" presName="parTxOnly" presStyleLbl="node1" presStyleIdx="1" presStyleCnt="2">
        <dgm:presLayoutVars>
          <dgm:chMax val="0"/>
          <dgm:chPref val="0"/>
          <dgm:bulletEnabled val="1"/>
        </dgm:presLayoutVars>
      </dgm:prSet>
      <dgm:spPr>
        <a:xfrm>
          <a:off x="2412545" y="109953"/>
          <a:ext cx="2675499" cy="1070199"/>
        </a:xfrm>
        <a:prstGeom prst="chevron">
          <a:avLst/>
        </a:prstGeom>
      </dgm:spPr>
    </dgm:pt>
  </dgm:ptLst>
  <dgm:cxnLst>
    <dgm:cxn modelId="{4ADB212E-331F-489F-8AEC-B390ECE18A15}" type="presOf" srcId="{2AE97B46-B610-4FE5-B344-3266B7CB8ED7}" destId="{B995A7BF-A464-49F5-82F9-C4EEC3FFB776}" srcOrd="0" destOrd="0" presId="urn:microsoft.com/office/officeart/2005/8/layout/chevron1"/>
    <dgm:cxn modelId="{6D395768-F8DB-4AA8-9469-16FA59665E3A}" srcId="{FA8BA176-FFE4-465A-84DB-33677C3CC451}" destId="{3639789A-D86F-463E-8AA4-D777D6389CB4}" srcOrd="1" destOrd="0" parTransId="{09BA5D51-C35A-4ADC-BA2C-49E37730AF1B}" sibTransId="{9849D3DF-A0D7-4371-83D4-2686E287DAF9}"/>
    <dgm:cxn modelId="{2B52CE96-DBD3-407E-9227-24FFF32DA974}" srcId="{FA8BA176-FFE4-465A-84DB-33677C3CC451}" destId="{2AE97B46-B610-4FE5-B344-3266B7CB8ED7}" srcOrd="0" destOrd="0" parTransId="{2A9F1679-2EC5-4F95-B269-075A927C5D15}" sibTransId="{011F33AB-8A0E-4272-9843-C0B2CF19D45D}"/>
    <dgm:cxn modelId="{98E555D3-D79C-47F7-B5DD-41CFA9E6B9B0}" type="presOf" srcId="{3639789A-D86F-463E-8AA4-D777D6389CB4}" destId="{9E85387C-F7A0-4553-A1DA-EF5F558B0710}" srcOrd="0" destOrd="0" presId="urn:microsoft.com/office/officeart/2005/8/layout/chevron1"/>
    <dgm:cxn modelId="{3C6055E2-4B6F-46BA-9575-6646CAED7F54}" type="presOf" srcId="{FA8BA176-FFE4-465A-84DB-33677C3CC451}" destId="{8D1D4B53-37E2-441D-AE7E-74B4013B9A15}" srcOrd="0" destOrd="0" presId="urn:microsoft.com/office/officeart/2005/8/layout/chevron1"/>
    <dgm:cxn modelId="{AE50B6F7-F23A-4EB8-8FA9-466D9057D631}" type="presParOf" srcId="{8D1D4B53-37E2-441D-AE7E-74B4013B9A15}" destId="{B995A7BF-A464-49F5-82F9-C4EEC3FFB776}" srcOrd="0" destOrd="0" presId="urn:microsoft.com/office/officeart/2005/8/layout/chevron1"/>
    <dgm:cxn modelId="{195004B5-C950-4D9F-81F4-EEE132AEE548}" type="presParOf" srcId="{8D1D4B53-37E2-441D-AE7E-74B4013B9A15}" destId="{32494CBB-113E-4CFD-8A48-16E118E8B675}" srcOrd="1" destOrd="0" presId="urn:microsoft.com/office/officeart/2005/8/layout/chevron1"/>
    <dgm:cxn modelId="{63760F1A-C0EE-46A9-BAE8-3ABD0A922208}" type="presParOf" srcId="{8D1D4B53-37E2-441D-AE7E-74B4013B9A15}" destId="{9E85387C-F7A0-4553-A1DA-EF5F558B0710}" srcOrd="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5A7BF-A464-49F5-82F9-C4EEC3FFB776}">
      <dsp:nvSpPr>
        <dsp:cNvPr id="0" name=""/>
        <dsp:cNvSpPr/>
      </dsp:nvSpPr>
      <dsp:spPr>
        <a:xfrm>
          <a:off x="2835" y="186473"/>
          <a:ext cx="2523952" cy="1009581"/>
        </a:xfrm>
        <a:prstGeom prst="chevron">
          <a:avLst/>
        </a:prstGeom>
        <a:solidFill>
          <a:srgbClr val="E2945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產生初始金鑰對</a:t>
          </a:r>
          <a:r>
            <a:rPr lang="en-US" altLang="zh-TW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(key pair)</a:t>
          </a:r>
          <a:endParaRPr lang="zh-TW" altLang="en-US" sz="1600" b="1" kern="1200" dirty="0">
            <a:solidFill>
              <a:schemeClr val="tx1"/>
            </a:solidFill>
            <a:latin typeface="Arial Narrow" panose="020B0606020202030204" pitchFamily="34" charset="0"/>
            <a:ea typeface="微軟正黑體" panose="020B0604030504040204" pitchFamily="34" charset="-120"/>
          </a:endParaRPr>
        </a:p>
      </dsp:txBody>
      <dsp:txXfrm>
        <a:off x="507626" y="186473"/>
        <a:ext cx="1514371" cy="1009581"/>
      </dsp:txXfrm>
    </dsp:sp>
    <dsp:sp modelId="{9E85387C-F7A0-4553-A1DA-EF5F558B0710}">
      <dsp:nvSpPr>
        <dsp:cNvPr id="0" name=""/>
        <dsp:cNvSpPr/>
      </dsp:nvSpPr>
      <dsp:spPr>
        <a:xfrm>
          <a:off x="2274393" y="186473"/>
          <a:ext cx="2523952" cy="1009581"/>
        </a:xfrm>
        <a:prstGeom prst="chevron">
          <a:avLst/>
        </a:prstGeom>
        <a:solidFill>
          <a:srgbClr val="E29454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以初始金鑰對產生憑證請求檔</a:t>
          </a:r>
          <a:r>
            <a:rPr lang="en-US" altLang="zh-TW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(.</a:t>
          </a:r>
          <a:r>
            <a:rPr lang="en-US" altLang="zh-TW" sz="1600" b="1" kern="1200" dirty="0" err="1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csr</a:t>
          </a:r>
          <a:r>
            <a:rPr lang="en-US" altLang="zh-TW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)</a:t>
          </a:r>
          <a:endParaRPr lang="zh-TW" altLang="en-US" sz="1600" b="1" kern="1200" dirty="0">
            <a:solidFill>
              <a:schemeClr val="tx1"/>
            </a:solidFill>
            <a:latin typeface="Arial Narrow" panose="020B0606020202030204" pitchFamily="34" charset="0"/>
            <a:ea typeface="微軟正黑體" panose="020B0604030504040204" pitchFamily="34" charset="-120"/>
          </a:endParaRPr>
        </a:p>
      </dsp:txBody>
      <dsp:txXfrm>
        <a:off x="2779184" y="186473"/>
        <a:ext cx="1514371" cy="1009581"/>
      </dsp:txXfrm>
    </dsp:sp>
    <dsp:sp modelId="{ACF1E5E4-DC74-46EE-827F-70C57929C781}">
      <dsp:nvSpPr>
        <dsp:cNvPr id="0" name=""/>
        <dsp:cNvSpPr/>
      </dsp:nvSpPr>
      <dsp:spPr>
        <a:xfrm>
          <a:off x="4545950" y="186473"/>
          <a:ext cx="2523952" cy="1009581"/>
        </a:xfrm>
        <a:prstGeom prst="chevron">
          <a:avLst/>
        </a:prstGeom>
        <a:solidFill>
          <a:srgbClr val="E2945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以</a:t>
          </a:r>
          <a:r>
            <a:rPr lang="en-US" altLang="zh-TW" sz="1600" b="1" kern="120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.csr</a:t>
          </a:r>
          <a:r>
            <a:rPr lang="zh-TW" altLang="en-US" sz="1600" b="1" kern="120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向</a:t>
          </a:r>
          <a:r>
            <a:rPr lang="en-US" altLang="zh-TW" sz="1600" b="1" kern="120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GCA</a:t>
          </a:r>
          <a:br>
            <a:rPr lang="en-US" altLang="zh-TW" sz="1600" b="1" kern="120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</a:br>
          <a:r>
            <a:rPr lang="zh-TW" altLang="en-US" sz="1600" b="1" kern="120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申請憑證</a:t>
          </a:r>
          <a:endParaRPr lang="zh-TW" altLang="en-US" sz="1600" b="1" kern="1200" dirty="0">
            <a:solidFill>
              <a:schemeClr val="tx1"/>
            </a:solidFill>
            <a:latin typeface="Arial Narrow" panose="020B0606020202030204" pitchFamily="34" charset="0"/>
            <a:ea typeface="微軟正黑體" panose="020B0604030504040204" pitchFamily="34" charset="-120"/>
          </a:endParaRPr>
        </a:p>
      </dsp:txBody>
      <dsp:txXfrm>
        <a:off x="5050741" y="186473"/>
        <a:ext cx="1514371" cy="1009581"/>
      </dsp:txXfrm>
    </dsp:sp>
    <dsp:sp modelId="{C74588CB-86E2-4F76-ACFB-8A66D39B45D5}">
      <dsp:nvSpPr>
        <dsp:cNvPr id="0" name=""/>
        <dsp:cNvSpPr/>
      </dsp:nvSpPr>
      <dsp:spPr>
        <a:xfrm>
          <a:off x="6817508" y="186473"/>
          <a:ext cx="2523952" cy="1009581"/>
        </a:xfrm>
        <a:prstGeom prst="chevron">
          <a:avLst/>
        </a:prstGeom>
        <a:solidFill>
          <a:srgbClr val="E2945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取得</a:t>
          </a:r>
          <a:r>
            <a:rPr lang="en-US" altLang="zh-TW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GCA</a:t>
          </a:r>
          <a:r>
            <a:rPr lang="zh-TW" altLang="en-US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核發</a:t>
          </a:r>
          <a:br>
            <a:rPr lang="en-US" altLang="zh-TW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</a:br>
          <a:r>
            <a:rPr lang="zh-TW" altLang="en-US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憑證公鑰</a:t>
          </a:r>
          <a:r>
            <a:rPr lang="en-US" altLang="zh-TW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(.</a:t>
          </a:r>
          <a:r>
            <a:rPr lang="en-US" altLang="zh-TW" sz="1600" b="1" kern="1200" dirty="0" err="1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cer</a:t>
          </a:r>
          <a:r>
            <a:rPr lang="en-US" altLang="zh-TW" sz="1600" b="1" kern="1200" dirty="0">
              <a:solidFill>
                <a:schemeClr val="tx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)</a:t>
          </a:r>
          <a:endParaRPr lang="zh-TW" altLang="en-US" sz="1600" kern="1200" dirty="0"/>
        </a:p>
      </dsp:txBody>
      <dsp:txXfrm>
        <a:off x="7322299" y="186473"/>
        <a:ext cx="1514371" cy="1009581"/>
      </dsp:txXfrm>
    </dsp:sp>
    <dsp:sp modelId="{876B7D03-2C6F-415F-8252-AAFBEDC65D67}">
      <dsp:nvSpPr>
        <dsp:cNvPr id="0" name=""/>
        <dsp:cNvSpPr/>
      </dsp:nvSpPr>
      <dsp:spPr>
        <a:xfrm>
          <a:off x="9089065" y="186473"/>
          <a:ext cx="2523952" cy="1009581"/>
        </a:xfrm>
        <a:prstGeom prst="chevron">
          <a:avLst/>
        </a:prstGeom>
        <a:solidFill>
          <a:srgbClr val="E2945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將</a:t>
          </a:r>
          <a:r>
            <a:rPr lang="en-US" altLang="zh-TW" sz="1600" b="1" kern="1200" dirty="0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.</a:t>
          </a:r>
          <a:r>
            <a:rPr lang="en-US" altLang="zh-TW" sz="1600" b="1" kern="1200" dirty="0" err="1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cer</a:t>
          </a:r>
          <a:r>
            <a:rPr lang="zh-TW" altLang="en-US" sz="1600" b="1" kern="1200" dirty="0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加入金鑰對以產生</a:t>
          </a:r>
          <a:r>
            <a:rPr lang="en-US" altLang="zh-TW" sz="1600" b="1" kern="1200" dirty="0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.pem</a:t>
          </a:r>
          <a:r>
            <a:rPr lang="zh-TW" altLang="en-US" sz="1600" b="1" kern="1200" dirty="0">
              <a:solidFill>
                <a:prstClr val="black"/>
              </a:solidFill>
              <a:latin typeface="Arial Narrow" panose="020B0606020202030204" pitchFamily="34" charset="0"/>
              <a:ea typeface="微軟正黑體" panose="020B0604030504040204" pitchFamily="34" charset="-120"/>
              <a:cs typeface="+mn-cs"/>
            </a:rPr>
            <a:t>檔</a:t>
          </a:r>
          <a:endParaRPr lang="zh-TW" altLang="en-US" sz="1600" kern="1200" dirty="0"/>
        </a:p>
      </dsp:txBody>
      <dsp:txXfrm>
        <a:off x="9593856" y="186473"/>
        <a:ext cx="1514371" cy="10095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5A7BF-A464-49F5-82F9-C4EEC3FFB776}">
      <dsp:nvSpPr>
        <dsp:cNvPr id="0" name=""/>
        <dsp:cNvSpPr/>
      </dsp:nvSpPr>
      <dsp:spPr>
        <a:xfrm>
          <a:off x="4771" y="25688"/>
          <a:ext cx="2852194" cy="1140877"/>
        </a:xfrm>
        <a:prstGeom prst="chevron">
          <a:avLst/>
        </a:prstGeom>
        <a:solidFill>
          <a:srgbClr val="3144C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取得</a:t>
          </a:r>
          <a:r>
            <a:rPr lang="en-US" altLang="zh-TW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GCA</a:t>
          </a:r>
          <a:r>
            <a:rPr lang="zh-TW" altLang="en-US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核發</a:t>
          </a:r>
          <a:br>
            <a:rPr lang="en-US" altLang="zh-TW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</a:br>
          <a:r>
            <a:rPr lang="zh-TW" altLang="en-US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的</a:t>
          </a:r>
          <a:r>
            <a:rPr lang="en-US" altLang="zh-TW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2</a:t>
          </a:r>
          <a:r>
            <a:rPr lang="zh-TW" altLang="en-US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份憑證檔</a:t>
          </a:r>
          <a:r>
            <a:rPr lang="en-US" altLang="zh-TW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(.</a:t>
          </a:r>
          <a:r>
            <a:rPr lang="en-US" altLang="zh-TW" sz="1600" b="1" kern="1200" dirty="0" err="1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cer</a:t>
          </a:r>
          <a:r>
            <a:rPr lang="en-US" altLang="zh-TW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)</a:t>
          </a:r>
          <a:endParaRPr lang="zh-TW" altLang="en-US" sz="1600" b="1" kern="1200" dirty="0">
            <a:solidFill>
              <a:schemeClr val="bg1"/>
            </a:solidFill>
            <a:latin typeface="Arial Narrow" panose="020B0606020202030204" pitchFamily="34" charset="0"/>
            <a:ea typeface="微軟正黑體" panose="020B0604030504040204" pitchFamily="34" charset="-120"/>
          </a:endParaRPr>
        </a:p>
      </dsp:txBody>
      <dsp:txXfrm>
        <a:off x="575210" y="25688"/>
        <a:ext cx="1711317" cy="1140877"/>
      </dsp:txXfrm>
    </dsp:sp>
    <dsp:sp modelId="{9E85387C-F7A0-4553-A1DA-EF5F558B0710}">
      <dsp:nvSpPr>
        <dsp:cNvPr id="0" name=""/>
        <dsp:cNvSpPr/>
      </dsp:nvSpPr>
      <dsp:spPr>
        <a:xfrm>
          <a:off x="2571746" y="25688"/>
          <a:ext cx="2852194" cy="1140877"/>
        </a:xfrm>
        <a:prstGeom prst="chevron">
          <a:avLst/>
        </a:prstGeom>
        <a:solidFill>
          <a:srgbClr val="3144CD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合併</a:t>
          </a:r>
          <a:r>
            <a:rPr lang="en-US" altLang="zh-TW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2</a:t>
          </a:r>
          <a:r>
            <a:rPr lang="zh-TW" altLang="en-US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份憑證</a:t>
          </a:r>
          <a:br>
            <a:rPr lang="en-US" altLang="zh-TW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</a:br>
          <a:r>
            <a:rPr lang="zh-TW" altLang="en-US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並儲存為</a:t>
          </a:r>
          <a:r>
            <a:rPr lang="en-US" altLang="zh-TW" sz="1600" b="1" kern="1200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.</a:t>
          </a:r>
          <a:r>
            <a:rPr lang="en-US" altLang="zh-TW" sz="1600" b="1" kern="1200" dirty="0" err="1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rPr>
            <a:t>jks</a:t>
          </a:r>
          <a:endParaRPr lang="zh-TW" altLang="en-US" sz="1600" b="1" kern="1200" dirty="0">
            <a:solidFill>
              <a:schemeClr val="bg1"/>
            </a:solidFill>
            <a:latin typeface="Arial Narrow" panose="020B0606020202030204" pitchFamily="34" charset="0"/>
            <a:ea typeface="微軟正黑體" panose="020B0604030504040204" pitchFamily="34" charset="-120"/>
          </a:endParaRPr>
        </a:p>
      </dsp:txBody>
      <dsp:txXfrm>
        <a:off x="3142185" y="25688"/>
        <a:ext cx="1711317" cy="11408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9DA6F-A86D-44FF-8FB2-D1223B44F891}" type="datetimeFigureOut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874AE-691D-42F4-8BD9-EF6D8A29A5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255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4B0425-AB8E-9A91-8861-3257BC671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8FDB65E-B9F7-0AD4-4704-8981A7CF0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2C47A4-2279-33E4-11A5-F3C3B5E6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A8D9-073B-4F56-BCB0-9D4136B57968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DD1DFD-C290-95D1-9626-B7037003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C26505-C529-AA88-E7B0-F386FC1E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2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B88410-2A36-482F-A605-80B6C005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577109-C5D0-9DB4-029B-424747662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6F5C4B-61D5-9124-4630-27C71F98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144D9-EA82-41B0-A36B-B357705B074A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F637C5-DCDE-CDE1-8EA5-35413338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DD0292-D3D0-6BC2-DA46-5B7B62867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800" y="6311900"/>
            <a:ext cx="2743200" cy="365125"/>
          </a:xfrm>
        </p:spPr>
        <p:txBody>
          <a:bodyPr/>
          <a:lstStyle>
            <a:lvl1pPr>
              <a:defRPr sz="2400">
                <a:latin typeface="Arial Rounded MT Bold" panose="020F0704030504030204" pitchFamily="34" charset="0"/>
              </a:defRPr>
            </a:lvl1pPr>
          </a:lstStyle>
          <a:p>
            <a:fld id="{F3777827-5486-43CF-89E0-768AD914934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808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B2AAB3-2CB8-F229-3B3F-0FCDFECF5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76233D-1C59-8E76-D692-49FDA0746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0C5493-A66A-BF22-9C33-12071943E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FCAEE-C5BA-4338-9F9B-FEFB6A0ED12D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FB21D3-A5F2-3B17-7500-795A64C5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83877-FC07-615F-BABD-7DC2FF05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1267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090C07-B072-2B2C-9F88-CC24C0A48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588E4-87F6-990F-0884-2F43823ED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082BC7E-53AA-2A92-398B-C27D02A3E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AAF0D1-2E86-5CAA-4A30-AEFC8AB6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5BBD-0FAF-4730-BAEC-6610DB00690B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604119-8E48-6FF3-3C72-DD17D3AC9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F4AB811-6844-396E-DD89-591747AD8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12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DB7E50-D126-B9EF-074D-8B7275B8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BEA75A-66FB-8110-2D9C-EB2066D92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BC1D91-2BBE-F34A-5E38-C818C28BB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128978-B1BD-F780-614F-D81BB98A4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BF61783-74BE-0B08-00C7-976BC23F54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A20F7A3-F4E9-04B4-5020-2BF7242D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887C-DDDE-48EB-A85C-A26A93FBEAD8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9879E58-48DE-DEF8-66ED-EA62FD98E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D80B735-7C90-1625-A99B-0CB20E462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97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EA78B0-FA35-D662-853F-E5E3CA00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D5F0914-6A90-4A4F-932D-73391C6FD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11788-0005-4AC3-B545-E45780CAF91C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A7B281-54B6-D705-BBB9-D5FA0E04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054B9B0-04B0-9F3E-B45F-6A75034F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22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16184DD-E461-4312-0756-5139DD33F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9F5-06E7-4318-B6C3-D5AF0AF6EF7A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139004A-0468-AC5C-1650-EDF2A93B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CB375E-6690-E8AE-3064-5B6805BE4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88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A8C470-54F0-61AB-C159-F383A1C4D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0B0AD9-6082-1BCC-D083-DD5809DA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1E7218-D76B-F13A-FB87-5C71EAF1E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FD1CCB-339F-D7EC-2C76-3A767AB82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1688E-F738-49CD-99AE-020C8D13F203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87AD20-CE69-97C7-07E1-2BB1B5369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F9FB59-6B79-2D6B-6AE1-6460D517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6367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A99ED-0FD3-F323-7D05-5373FB12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506966D-78F9-5D04-ED51-41D88AD4E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F30C33-3A43-A115-6597-BBFE054EA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E1B47A-516A-5496-8E8F-DB6EA4FA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BBD16-1BEE-4FAB-9BB9-0E4220A9A7DD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17F726-5F3B-F115-5FF1-4D39A73A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6FA7525-1E9C-F27E-2A99-34BBA2BA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55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0E1490-D1E0-EEE5-BCBC-C8D71184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3D5849-F65F-399C-280C-D1197E009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8037DA-4A23-47A0-A8D0-553D51E6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4687E-369F-45A1-BF93-927FBB1F0922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95FBAE-FC60-27C0-7376-B3DF0C67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34C976-7103-D39C-D59A-39278AF4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331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EB599B7-CA88-0C18-BBAA-5DE82FA84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0FA170C-FF9F-52EB-EA05-2B82FE7B8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892FF0-7E9A-4466-F492-36DE2A85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CC99-02D4-406F-AD5D-AE3387A93292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6F23FA-0E84-EFDF-C19E-27E9440B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69C54F-7C97-D8D1-72EC-D977C289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84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2E61047-83F5-D3BD-BA42-369F595CD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2430B5D-8A7B-3B65-B7DD-B69E92D01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E20336-E4AF-B14A-7D54-8331B3448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5E374-322C-43A9-9067-68B885975979}" type="datetime1">
              <a:rPr lang="zh-TW" altLang="en-US" smtClean="0"/>
              <a:t>2024/5/15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AC3380-EE47-9678-7535-9C14D2658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DBF029-4C16-5381-E8C6-571CC8314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77827-5486-43CF-89E0-768AD914934F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5E34784-BEBA-0A04-FB40-C801A55C498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937" y="6405685"/>
            <a:ext cx="1508125" cy="26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0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keystore-explorer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caweb.nat.gov.tw/GCP/views/SAPSSL/SAP_1.html" TargetMode="External"/><Relationship Id="rId2" Type="http://schemas.openxmlformats.org/officeDocument/2006/relationships/hyperlink" Target="https://gcaweb.nat.gov.tw/GCP/views/SAPSSL/SSL_3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cp.nat.gov.tw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zilla-project.org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www.devglan.com/online-tools/jasypt-online-encryption-decryption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09A3C7-E9AB-66FC-4E18-E3A95AD8B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40" y="2397760"/>
            <a:ext cx="11543030" cy="1409541"/>
          </a:xfrm>
        </p:spPr>
        <p:txBody>
          <a:bodyPr anchor="ctr">
            <a:normAutofit/>
          </a:bodyPr>
          <a:lstStyle/>
          <a:p>
            <a:r>
              <a:rPr lang="zh-TW" altLang="en-US" sz="4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憑證金鑰庫</a:t>
            </a:r>
            <a:r>
              <a:rPr lang="en-US" altLang="zh-TW" sz="4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(KeyStore)</a:t>
            </a:r>
            <a:r>
              <a:rPr lang="zh-TW" altLang="en-US" sz="4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及信任庫</a:t>
            </a:r>
            <a:r>
              <a:rPr lang="en-US" altLang="zh-TW" sz="4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(</a:t>
            </a:r>
            <a:r>
              <a:rPr lang="en-US" altLang="zh-TW" sz="48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TrustStore</a:t>
            </a:r>
            <a:r>
              <a:rPr lang="en-US" altLang="zh-TW" sz="4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)</a:t>
            </a:r>
            <a:br>
              <a:rPr lang="en-US" altLang="zh-TW" sz="4800" dirty="0">
                <a:latin typeface="Arial Narrow" panose="020B0606020202030204" pitchFamily="34" charset="0"/>
                <a:ea typeface="微軟正黑體" panose="020B0604030504040204" pitchFamily="34" charset="-120"/>
              </a:rPr>
            </a:br>
            <a:r>
              <a:rPr lang="zh-TW" altLang="en-US" sz="4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製作教學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1EE3A1-A8AD-A33C-5D1B-9ADD5539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56E0DF-99CB-9027-80DB-E879D76A33E1}"/>
              </a:ext>
            </a:extLst>
          </p:cNvPr>
          <p:cNvSpPr/>
          <p:nvPr/>
        </p:nvSpPr>
        <p:spPr>
          <a:xfrm>
            <a:off x="2984500" y="3886200"/>
            <a:ext cx="6223000" cy="190500"/>
          </a:xfrm>
          <a:prstGeom prst="rect">
            <a:avLst/>
          </a:prstGeom>
          <a:solidFill>
            <a:srgbClr val="089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6D2FD862-5259-48DF-D2FC-78B1A305E6C8}"/>
              </a:ext>
            </a:extLst>
          </p:cNvPr>
          <p:cNvSpPr txBox="1">
            <a:spLocks/>
          </p:cNvSpPr>
          <p:nvPr/>
        </p:nvSpPr>
        <p:spPr>
          <a:xfrm>
            <a:off x="3865562" y="4338320"/>
            <a:ext cx="4460875" cy="1083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200"/>
              </a:spcBef>
            </a:pPr>
            <a:r>
              <a:rPr lang="zh-TW" altLang="en-US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中華電信資訊技術分公司</a:t>
            </a:r>
            <a:endParaRPr lang="en-US" altLang="zh-TW" sz="24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  <a:p>
            <a:pPr>
              <a:spcBef>
                <a:spcPts val="1200"/>
              </a:spcBef>
            </a:pPr>
            <a:r>
              <a:rPr lang="en-US" altLang="zh-TW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2022/12/08</a:t>
            </a:r>
            <a:r>
              <a:rPr lang="zh-TW" altLang="en-US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更新</a:t>
            </a:r>
          </a:p>
        </p:txBody>
      </p:sp>
    </p:spTree>
    <p:extLst>
      <p:ext uri="{BB962C8B-B14F-4D97-AF65-F5344CB8AC3E}">
        <p14:creationId xmlns:p14="http://schemas.microsoft.com/office/powerpoint/2010/main" val="418487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FB4600-CEF2-F640-F526-0F629640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4830B438-CF76-4082-7CEF-7550B8FF608B}"/>
              </a:ext>
            </a:extLst>
          </p:cNvPr>
          <p:cNvSpPr txBox="1">
            <a:spLocks/>
          </p:cNvSpPr>
          <p:nvPr/>
        </p:nvSpPr>
        <p:spPr>
          <a:xfrm>
            <a:off x="1026160" y="568960"/>
            <a:ext cx="7667352" cy="109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前置準備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9CD29F-23D3-A063-AF74-BEA2C03F24A0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599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CE61F13-79CE-1BB2-7858-6F5202A7FBC6}"/>
              </a:ext>
            </a:extLst>
          </p:cNvPr>
          <p:cNvSpPr txBox="1"/>
          <p:nvPr/>
        </p:nvSpPr>
        <p:spPr>
          <a:xfrm>
            <a:off x="1203960" y="2103120"/>
            <a:ext cx="972121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準備一台用來執行後續作業的電腦，可為</a:t>
            </a:r>
            <a:r>
              <a:rPr lang="en-US" altLang="zh-TW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Windows</a:t>
            </a: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系統，</a:t>
            </a:r>
            <a:br>
              <a:rPr lang="en-US" altLang="zh-TW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</a:b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後續說明指引以</a:t>
            </a:r>
            <a:r>
              <a:rPr lang="en-US" altLang="zh-TW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Windows</a:t>
            </a: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為例</a:t>
            </a:r>
            <a:endParaRPr lang="en-US" altLang="zh-TW" sz="2800" dirty="0">
              <a:latin typeface="Arial Narrow" panose="020B0606020202030204" pitchFamily="34" charset="0"/>
              <a:ea typeface="微軟正黑體" panose="020B0604030504040204" pitchFamily="34" charset="-120"/>
              <a:cs typeface="+mj-cs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安裝憑證製作軟體：</a:t>
            </a:r>
            <a:r>
              <a:rPr lang="en-US" altLang="zh-TW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KeyStore Explorer</a:t>
            </a:r>
            <a:br>
              <a:rPr lang="en-US" altLang="zh-TW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</a:b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下載網址：</a:t>
            </a:r>
            <a:r>
              <a:rPr lang="en-US" altLang="zh-TW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  <a:hlinkClick r:id="rId2"/>
              </a:rPr>
              <a:t>https://keystore-explorer.org/</a:t>
            </a:r>
            <a:endParaRPr lang="en-US" altLang="zh-TW" sz="2800" dirty="0">
              <a:latin typeface="Arial Narrow" panose="020B0606020202030204" pitchFamily="34" charset="0"/>
              <a:ea typeface="微軟正黑體" panose="020B0604030504040204" pitchFamily="34" charset="-120"/>
              <a:cs typeface="+mj-cs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安裝</a:t>
            </a:r>
            <a:r>
              <a:rPr lang="en-US" altLang="zh-TW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KeyStore Explorer</a:t>
            </a: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前，請確認</a:t>
            </a:r>
            <a:r>
              <a:rPr lang="en-US" altLang="zh-TW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Keystore Explore</a:t>
            </a: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所附之</a:t>
            </a:r>
            <a:r>
              <a:rPr lang="en-US" altLang="zh-TW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OpenJDK</a:t>
            </a: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版本應為</a:t>
            </a:r>
            <a:r>
              <a:rPr lang="en-US" altLang="zh-TW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1.8</a:t>
            </a: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 </a:t>
            </a:r>
            <a:r>
              <a:rPr lang="en-US" altLang="zh-TW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(64bit)</a:t>
            </a:r>
            <a:r>
              <a:rPr lang="zh-TW" altLang="en-US" sz="2800" dirty="0">
                <a:latin typeface="Arial Narrow" panose="020B0606020202030204" pitchFamily="34" charset="0"/>
                <a:ea typeface="微軟正黑體" panose="020B0604030504040204" pitchFamily="34" charset="-120"/>
                <a:cs typeface="+mj-cs"/>
              </a:rPr>
              <a:t>以上</a:t>
            </a:r>
          </a:p>
        </p:txBody>
      </p:sp>
    </p:spTree>
    <p:extLst>
      <p:ext uri="{BB962C8B-B14F-4D97-AF65-F5344CB8AC3E}">
        <p14:creationId xmlns:p14="http://schemas.microsoft.com/office/powerpoint/2010/main" val="73472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C833E0-D26D-D10E-DD61-D6E7B1B1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845E7DA7-C35B-AF15-104A-75B3AB22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163" y="568960"/>
            <a:ext cx="8238425" cy="1091248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憑證金鑰庫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(KeyStore)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製作邏輯說明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CED80E-146C-D1A0-D768-2A1C085E9287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E29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資料庫圖表 6">
            <a:extLst>
              <a:ext uri="{FF2B5EF4-FFF2-40B4-BE49-F238E27FC236}">
                <a16:creationId xmlns:a16="http://schemas.microsoft.com/office/drawing/2014/main" id="{AB3D1F42-4BEB-3823-1893-688D8AAF7D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8784431"/>
              </p:ext>
            </p:extLst>
          </p:nvPr>
        </p:nvGraphicFramePr>
        <p:xfrm>
          <a:off x="288073" y="1862045"/>
          <a:ext cx="11615854" cy="1382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標題 1">
            <a:extLst>
              <a:ext uri="{FF2B5EF4-FFF2-40B4-BE49-F238E27FC236}">
                <a16:creationId xmlns:a16="http://schemas.microsoft.com/office/drawing/2014/main" id="{E2334EB7-4207-2E6B-B194-E4DFC5FCF1C9}"/>
              </a:ext>
            </a:extLst>
          </p:cNvPr>
          <p:cNvSpPr txBox="1">
            <a:spLocks/>
          </p:cNvSpPr>
          <p:nvPr/>
        </p:nvSpPr>
        <p:spPr>
          <a:xfrm>
            <a:off x="8540114" y="5965110"/>
            <a:ext cx="1156972" cy="48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完成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92D8BC24-B875-BBE9-BA81-950CC65EA1FD}"/>
              </a:ext>
            </a:extLst>
          </p:cNvPr>
          <p:cNvSpPr txBox="1">
            <a:spLocks/>
          </p:cNvSpPr>
          <p:nvPr/>
        </p:nvSpPr>
        <p:spPr>
          <a:xfrm>
            <a:off x="599440" y="3290422"/>
            <a:ext cx="5803901" cy="1333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安控伺服器總共需要兩張憑證：</a:t>
            </a:r>
            <a:endParaRPr lang="en-US" altLang="zh-TW" sz="1800" b="1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  <a:p>
            <a:pPr>
              <a:spcBef>
                <a:spcPts val="600"/>
              </a:spcBef>
            </a:pP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(1)T-Road</a:t>
            </a: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專用伺服器應用軟體憑證 </a:t>
            </a: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(</a:t>
            </a: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簡稱</a:t>
            </a:r>
            <a:r>
              <a:rPr lang="en-US" altLang="zh-TW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(2)</a:t>
            </a: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專屬類伺服應用軟體憑證 </a:t>
            </a: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(</a:t>
            </a: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簡稱</a:t>
            </a: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專屬類憑證</a:t>
            </a: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820765FB-78CC-8DA6-C3DC-9EF78BD81439}"/>
              </a:ext>
            </a:extLst>
          </p:cNvPr>
          <p:cNvSpPr txBox="1">
            <a:spLocks/>
          </p:cNvSpPr>
          <p:nvPr/>
        </p:nvSpPr>
        <p:spPr>
          <a:xfrm>
            <a:off x="1506763" y="4620542"/>
            <a:ext cx="4571638" cy="969316"/>
          </a:xfrm>
          <a:prstGeom prst="rect">
            <a:avLst/>
          </a:prstGeom>
          <a:ln w="12700">
            <a:solidFill>
              <a:srgbClr val="2946D5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按照上述流程，一張憑證需要製作一個</a:t>
            </a:r>
            <a:r>
              <a:rPr lang="en-US" altLang="zh-TW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</a:p>
          <a:p>
            <a:pPr algn="ctr">
              <a:spcBef>
                <a:spcPts val="600"/>
              </a:spcBef>
            </a:pP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最終產生共</a:t>
            </a:r>
            <a:r>
              <a:rPr lang="en-US" altLang="zh-TW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</a:t>
            </a: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個</a:t>
            </a:r>
            <a:r>
              <a:rPr lang="en-US" altLang="zh-TW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4870965B-5E79-32E0-7D96-D1DFD3212A94}"/>
              </a:ext>
            </a:extLst>
          </p:cNvPr>
          <p:cNvSpPr/>
          <p:nvPr/>
        </p:nvSpPr>
        <p:spPr>
          <a:xfrm>
            <a:off x="858408" y="4820468"/>
            <a:ext cx="476866" cy="311979"/>
          </a:xfrm>
          <a:prstGeom prst="rightArrow">
            <a:avLst>
              <a:gd name="adj1" fmla="val 50000"/>
              <a:gd name="adj2" fmla="val 62086"/>
            </a:avLst>
          </a:prstGeom>
          <a:solidFill>
            <a:srgbClr val="2946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B1D662B7-8B22-0A2D-2DFC-11A9B6FCB939}"/>
              </a:ext>
            </a:extLst>
          </p:cNvPr>
          <p:cNvSpPr txBox="1">
            <a:spLocks/>
          </p:cNvSpPr>
          <p:nvPr/>
        </p:nvSpPr>
        <p:spPr>
          <a:xfrm>
            <a:off x="6788550" y="4620542"/>
            <a:ext cx="4687979" cy="969316"/>
          </a:xfrm>
          <a:prstGeom prst="rect">
            <a:avLst/>
          </a:prstGeom>
          <a:ln w="12700">
            <a:solidFill>
              <a:srgbClr val="2946D5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將兩個</a:t>
            </a:r>
            <a:r>
              <a:rPr lang="en-US" altLang="zh-TW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合併儲存為</a:t>
            </a:r>
            <a:r>
              <a:rPr lang="en-US" altLang="zh-TW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1800" b="1" dirty="0" err="1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，放至安控伺服器</a:t>
            </a:r>
            <a:endParaRPr lang="en-US" altLang="zh-TW" sz="1800" b="1" dirty="0">
              <a:solidFill>
                <a:srgbClr val="2946D5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EC8A5B2A-2604-8F12-EC2E-731E59601996}"/>
              </a:ext>
            </a:extLst>
          </p:cNvPr>
          <p:cNvSpPr/>
          <p:nvPr/>
        </p:nvSpPr>
        <p:spPr>
          <a:xfrm>
            <a:off x="6191652" y="4820467"/>
            <a:ext cx="476866" cy="311979"/>
          </a:xfrm>
          <a:prstGeom prst="rightArrow">
            <a:avLst>
              <a:gd name="adj1" fmla="val 50000"/>
              <a:gd name="adj2" fmla="val 62086"/>
            </a:avLst>
          </a:prstGeom>
          <a:solidFill>
            <a:srgbClr val="2946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008B0BE4-D513-C17E-4215-8BD5C6236644}"/>
              </a:ext>
            </a:extLst>
          </p:cNvPr>
          <p:cNvSpPr/>
          <p:nvPr/>
        </p:nvSpPr>
        <p:spPr>
          <a:xfrm rot="5400000">
            <a:off x="8880166" y="5499466"/>
            <a:ext cx="476866" cy="311979"/>
          </a:xfrm>
          <a:prstGeom prst="rightArrow">
            <a:avLst>
              <a:gd name="adj1" fmla="val 50000"/>
              <a:gd name="adj2" fmla="val 62086"/>
            </a:avLst>
          </a:prstGeom>
          <a:solidFill>
            <a:srgbClr val="2946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BB7E547-AB5A-1DA1-6274-AA957C69136A}"/>
              </a:ext>
            </a:extLst>
          </p:cNvPr>
          <p:cNvSpPr txBox="1">
            <a:spLocks/>
          </p:cNvSpPr>
          <p:nvPr/>
        </p:nvSpPr>
        <p:spPr>
          <a:xfrm>
            <a:off x="1036164" y="1524853"/>
            <a:ext cx="1038046" cy="636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en-US" altLang="zh-TW" sz="24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1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EC58AECA-F010-6ADC-D4FC-00DF2CA25072}"/>
              </a:ext>
            </a:extLst>
          </p:cNvPr>
          <p:cNvSpPr txBox="1">
            <a:spLocks/>
          </p:cNvSpPr>
          <p:nvPr/>
        </p:nvSpPr>
        <p:spPr>
          <a:xfrm>
            <a:off x="3342484" y="1524853"/>
            <a:ext cx="1038046" cy="636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en-US" altLang="zh-TW" sz="24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2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99E503D3-AA02-13B0-76BC-107407591337}"/>
              </a:ext>
            </a:extLst>
          </p:cNvPr>
          <p:cNvSpPr txBox="1">
            <a:spLocks/>
          </p:cNvSpPr>
          <p:nvPr/>
        </p:nvSpPr>
        <p:spPr>
          <a:xfrm>
            <a:off x="5576977" y="1524853"/>
            <a:ext cx="1038046" cy="636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en-US" altLang="zh-TW" sz="24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3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0F45E245-6BBA-A898-A34D-AAFD760291D0}"/>
              </a:ext>
            </a:extLst>
          </p:cNvPr>
          <p:cNvSpPr txBox="1">
            <a:spLocks/>
          </p:cNvSpPr>
          <p:nvPr/>
        </p:nvSpPr>
        <p:spPr>
          <a:xfrm>
            <a:off x="7760670" y="1524853"/>
            <a:ext cx="1038046" cy="636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en-US" altLang="zh-TW" sz="24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4</a:t>
            </a:r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6BDABF01-D1C2-18AA-4D69-F1E23E19B0DD}"/>
              </a:ext>
            </a:extLst>
          </p:cNvPr>
          <p:cNvSpPr txBox="1">
            <a:spLocks/>
          </p:cNvSpPr>
          <p:nvPr/>
        </p:nvSpPr>
        <p:spPr>
          <a:xfrm>
            <a:off x="10117790" y="1524853"/>
            <a:ext cx="1038046" cy="636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en-US" altLang="zh-TW" sz="24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5</a:t>
            </a:r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D19E8CF1-D869-96A0-58E4-5F1542E01FE4}"/>
              </a:ext>
            </a:extLst>
          </p:cNvPr>
          <p:cNvSpPr txBox="1">
            <a:spLocks/>
          </p:cNvSpPr>
          <p:nvPr/>
        </p:nvSpPr>
        <p:spPr>
          <a:xfrm>
            <a:off x="5153606" y="4261566"/>
            <a:ext cx="1038046" cy="636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en-US" altLang="zh-TW" sz="24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6</a:t>
            </a:r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609C5980-DDD0-3BDA-4FA5-6EC826B74206}"/>
              </a:ext>
            </a:extLst>
          </p:cNvPr>
          <p:cNvSpPr txBox="1">
            <a:spLocks/>
          </p:cNvSpPr>
          <p:nvPr/>
        </p:nvSpPr>
        <p:spPr>
          <a:xfrm>
            <a:off x="10486109" y="4261566"/>
            <a:ext cx="1038046" cy="636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en-US" altLang="zh-TW" sz="24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7</a:t>
            </a:r>
          </a:p>
        </p:txBody>
      </p:sp>
    </p:spTree>
    <p:extLst>
      <p:ext uri="{BB962C8B-B14F-4D97-AF65-F5344CB8AC3E}">
        <p14:creationId xmlns:p14="http://schemas.microsoft.com/office/powerpoint/2010/main" val="326716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1BE3C-BDEC-9C20-4DC8-1766E5D2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565847"/>
            <a:ext cx="10876280" cy="1124841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1: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 開始建立初始金鑰對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(key pair)</a:t>
            </a:r>
            <a:endParaRPr lang="zh-TW" altLang="en-US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055426A-6C41-1F0F-BC35-D22756274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786845"/>
            <a:ext cx="7892522" cy="4706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3F3F01D-9BBF-84D3-1444-0D993DA61A2F}"/>
              </a:ext>
            </a:extLst>
          </p:cNvPr>
          <p:cNvSpPr/>
          <p:nvPr/>
        </p:nvSpPr>
        <p:spPr>
          <a:xfrm>
            <a:off x="3059541" y="4303547"/>
            <a:ext cx="1529926" cy="1220998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FEB4DB3-92B8-B7AC-89FA-A13022E27982}"/>
              </a:ext>
            </a:extLst>
          </p:cNvPr>
          <p:cNvCxnSpPr>
            <a:cxnSpLocks/>
            <a:stCxn id="8" idx="0"/>
            <a:endCxn id="15" idx="1"/>
          </p:cNvCxnSpPr>
          <p:nvPr/>
        </p:nvCxnSpPr>
        <p:spPr>
          <a:xfrm flipV="1">
            <a:off x="3824504" y="4016686"/>
            <a:ext cx="1309263" cy="286861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B97C1B7-D478-1F1F-7AF5-B6AE66411C34}"/>
              </a:ext>
            </a:extLst>
          </p:cNvPr>
          <p:cNvSpPr txBox="1"/>
          <p:nvPr/>
        </p:nvSpPr>
        <p:spPr>
          <a:xfrm>
            <a:off x="8314476" y="2350280"/>
            <a:ext cx="2743200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>
              <a:spcBef>
                <a:spcPts val="300"/>
              </a:spcBef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新增一張</a:t>
            </a:r>
            <a:r>
              <a:rPr lang="en-US" altLang="zh-TW" dirty="0"/>
              <a:t>.p12</a:t>
            </a:r>
            <a:r>
              <a:rPr lang="zh-TW" altLang="en-US" dirty="0"/>
              <a:t>的空白檔案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5DBC1D-5B2C-B880-8511-81B070699DC6}"/>
              </a:ext>
            </a:extLst>
          </p:cNvPr>
          <p:cNvSpPr/>
          <p:nvPr/>
        </p:nvSpPr>
        <p:spPr>
          <a:xfrm>
            <a:off x="5133767" y="3847511"/>
            <a:ext cx="1588769" cy="338349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BE7A0891-3AA7-B7CC-E4FB-E62FED326D6D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5928151" y="4185860"/>
            <a:ext cx="294216" cy="1603248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BA3D2C8-41B4-8D7D-7D66-96C0D55F476A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222367" y="2746786"/>
            <a:ext cx="3463709" cy="3042322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DD55D7A1-D226-54A7-76D2-8BAAB662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>
                <a:latin typeface="Arial Narrow" panose="020B0606020202030204" pitchFamily="34" charset="0"/>
              </a:rPr>
              <a:pPr/>
              <a:t>4</a:t>
            </a:fld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A7F2E5-D707-A4B7-D2B9-622DAB1A0795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900F2A7-9DBC-93BF-9115-F33A948711ED}"/>
              </a:ext>
            </a:extLst>
          </p:cNvPr>
          <p:cNvSpPr txBox="1">
            <a:spLocks/>
          </p:cNvSpPr>
          <p:nvPr/>
        </p:nvSpPr>
        <p:spPr>
          <a:xfrm>
            <a:off x="8853698" y="62"/>
            <a:ext cx="3338302" cy="365125"/>
          </a:xfrm>
          <a:prstGeom prst="rect">
            <a:avLst/>
          </a:prstGeom>
          <a:solidFill>
            <a:srgbClr val="3EC0AA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以製作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類憑證為例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1721B5-B7A6-1581-4B36-580A46A939DF}"/>
              </a:ext>
            </a:extLst>
          </p:cNvPr>
          <p:cNvSpPr txBox="1"/>
          <p:nvPr/>
        </p:nvSpPr>
        <p:spPr>
          <a:xfrm>
            <a:off x="7708769" y="2350280"/>
            <a:ext cx="354807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3286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1BE3C-BDEC-9C20-4DC8-1766E5D2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565847"/>
            <a:ext cx="5765800" cy="1124841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1-1: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 輸入憑證屬性</a:t>
            </a:r>
          </a:p>
        </p:txBody>
      </p:sp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DD55D7A1-D226-54A7-76D2-8BAAB662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>
                <a:latin typeface="Arial Narrow" panose="020B0606020202030204" pitchFamily="34" charset="0"/>
              </a:rPr>
              <a:pPr/>
              <a:t>5</a:t>
            </a:fld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A7F2E5-D707-A4B7-D2B9-622DAB1A0795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F2B1F7-956C-3250-9E24-1DF569FE1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21" y="1939829"/>
            <a:ext cx="4515082" cy="3740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EEE72BF-B7DE-455F-E7D4-A1A6DF111DB1}"/>
              </a:ext>
            </a:extLst>
          </p:cNvPr>
          <p:cNvSpPr/>
          <p:nvPr/>
        </p:nvSpPr>
        <p:spPr>
          <a:xfrm>
            <a:off x="3255774" y="2202655"/>
            <a:ext cx="354806" cy="347663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36374A-6498-CFCF-5CC1-2C1C913EA9E5}"/>
              </a:ext>
            </a:extLst>
          </p:cNvPr>
          <p:cNvSpPr/>
          <p:nvPr/>
        </p:nvSpPr>
        <p:spPr>
          <a:xfrm>
            <a:off x="3255773" y="4610575"/>
            <a:ext cx="844867" cy="418625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1FDC0EA-8A75-D39D-E0E2-3599D054C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056" y="297903"/>
            <a:ext cx="4516623" cy="33149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2CFEC00-5F89-8B30-6550-A9FDB0D99EE7}"/>
              </a:ext>
            </a:extLst>
          </p:cNvPr>
          <p:cNvSpPr/>
          <p:nvPr/>
        </p:nvSpPr>
        <p:spPr>
          <a:xfrm>
            <a:off x="10589571" y="2569765"/>
            <a:ext cx="354806" cy="347663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8BD82737-D80E-2BA9-E6B5-3F8B5C862D5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831" b="90424" l="3251" r="9607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369" t="5879" r="5273" b="11558"/>
          <a:stretch/>
        </p:blipFill>
        <p:spPr bwMode="auto">
          <a:xfrm>
            <a:off x="6643056" y="3833244"/>
            <a:ext cx="5055543" cy="2843781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36C8B774-A2CA-71DD-A2FE-9810DBDE3982}"/>
              </a:ext>
            </a:extLst>
          </p:cNvPr>
          <p:cNvSpPr txBox="1"/>
          <p:nvPr/>
        </p:nvSpPr>
        <p:spPr>
          <a:xfrm>
            <a:off x="2959424" y="1896664"/>
            <a:ext cx="354807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8400D5A-47C1-4A4E-9890-FAD17E528D25}"/>
              </a:ext>
            </a:extLst>
          </p:cNvPr>
          <p:cNvSpPr txBox="1"/>
          <p:nvPr/>
        </p:nvSpPr>
        <p:spPr>
          <a:xfrm>
            <a:off x="2678773" y="4610575"/>
            <a:ext cx="458055" cy="418624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2.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6A0903D-6039-93CB-4D29-5836DF76EE21}"/>
              </a:ext>
            </a:extLst>
          </p:cNvPr>
          <p:cNvSpPr txBox="1"/>
          <p:nvPr/>
        </p:nvSpPr>
        <p:spPr>
          <a:xfrm>
            <a:off x="11001175" y="2550318"/>
            <a:ext cx="354806" cy="36711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3.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01AFCAC-3D78-9082-36E3-3587889D2CA8}"/>
              </a:ext>
            </a:extLst>
          </p:cNvPr>
          <p:cNvSpPr txBox="1"/>
          <p:nvPr/>
        </p:nvSpPr>
        <p:spPr>
          <a:xfrm>
            <a:off x="10109200" y="3810000"/>
            <a:ext cx="1783950" cy="418624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4.</a:t>
            </a:r>
            <a:r>
              <a:rPr lang="zh-TW" altLang="en-US" dirty="0"/>
              <a:t> 輸入欄位屬性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A3D265-0726-E21F-0182-BC0809000A8F}"/>
              </a:ext>
            </a:extLst>
          </p:cNvPr>
          <p:cNvSpPr/>
          <p:nvPr/>
        </p:nvSpPr>
        <p:spPr>
          <a:xfrm>
            <a:off x="10780214" y="6165976"/>
            <a:ext cx="796728" cy="365125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5C9CD04-CE70-0BBD-0438-044A84BE8473}"/>
              </a:ext>
            </a:extLst>
          </p:cNvPr>
          <p:cNvSpPr txBox="1"/>
          <p:nvPr/>
        </p:nvSpPr>
        <p:spPr>
          <a:xfrm>
            <a:off x="10515997" y="5907910"/>
            <a:ext cx="354806" cy="36711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5.</a:t>
            </a:r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03EC1D80-23A7-0C26-D56D-FDB7EE11EAAB}"/>
              </a:ext>
            </a:extLst>
          </p:cNvPr>
          <p:cNvSpPr txBox="1">
            <a:spLocks/>
          </p:cNvSpPr>
          <p:nvPr/>
        </p:nvSpPr>
        <p:spPr>
          <a:xfrm>
            <a:off x="8853698" y="62"/>
            <a:ext cx="3338302" cy="365125"/>
          </a:xfrm>
          <a:prstGeom prst="rect">
            <a:avLst/>
          </a:prstGeom>
          <a:solidFill>
            <a:srgbClr val="3EC0AA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以製作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類憑證為例</a:t>
            </a:r>
          </a:p>
        </p:txBody>
      </p:sp>
    </p:spTree>
    <p:extLst>
      <p:ext uri="{BB962C8B-B14F-4D97-AF65-F5344CB8AC3E}">
        <p14:creationId xmlns:p14="http://schemas.microsoft.com/office/powerpoint/2010/main" val="4125300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1BE3C-BDEC-9C20-4DC8-1766E5D2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999" y="565847"/>
            <a:ext cx="9845676" cy="1124841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1-2: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 設定憑證別名及金鑰對密碼</a:t>
            </a:r>
          </a:p>
        </p:txBody>
      </p:sp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DD55D7A1-D226-54A7-76D2-8BAAB662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>
                <a:latin typeface="Arial Narrow" panose="020B0606020202030204" pitchFamily="34" charset="0"/>
              </a:rPr>
              <a:pPr/>
              <a:t>6</a:t>
            </a:fld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A7F2E5-D707-A4B7-D2B9-622DAB1A0795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98F01BE-A25E-1789-373F-A7932B105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84" y="1880583"/>
            <a:ext cx="5229426" cy="4084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A6F0D1F-767C-2756-5CBA-4EA41AE32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39" y="1816063"/>
            <a:ext cx="5402277" cy="42139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標題 1">
            <a:extLst>
              <a:ext uri="{FF2B5EF4-FFF2-40B4-BE49-F238E27FC236}">
                <a16:creationId xmlns:a16="http://schemas.microsoft.com/office/drawing/2014/main" id="{87AD59B0-F579-59CA-EABB-381377B2C0C6}"/>
              </a:ext>
            </a:extLst>
          </p:cNvPr>
          <p:cNvSpPr txBox="1">
            <a:spLocks/>
          </p:cNvSpPr>
          <p:nvPr/>
        </p:nvSpPr>
        <p:spPr>
          <a:xfrm>
            <a:off x="4452348" y="1478170"/>
            <a:ext cx="1445048" cy="204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alias name</a:t>
            </a:r>
            <a:endParaRPr lang="zh-TW" altLang="en-US" sz="18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BF0BACC-99D6-93AD-2399-3BE780890C02}"/>
              </a:ext>
            </a:extLst>
          </p:cNvPr>
          <p:cNvCxnSpPr/>
          <p:nvPr/>
        </p:nvCxnSpPr>
        <p:spPr>
          <a:xfrm>
            <a:off x="4169093" y="1423035"/>
            <a:ext cx="20115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A037FE7F-92EF-CB61-9102-813F8BCCA3A3}"/>
              </a:ext>
            </a:extLst>
          </p:cNvPr>
          <p:cNvSpPr/>
          <p:nvPr/>
        </p:nvSpPr>
        <p:spPr>
          <a:xfrm>
            <a:off x="2254288" y="3713706"/>
            <a:ext cx="375702" cy="379323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D162C5-154A-D7D6-1DA5-4057957F268F}"/>
              </a:ext>
            </a:extLst>
          </p:cNvPr>
          <p:cNvSpPr/>
          <p:nvPr/>
        </p:nvSpPr>
        <p:spPr>
          <a:xfrm>
            <a:off x="8746326" y="3544389"/>
            <a:ext cx="719891" cy="687977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1782D0E-AA43-3A67-B5BF-3E66EBDAC602}"/>
              </a:ext>
            </a:extLst>
          </p:cNvPr>
          <p:cNvSpPr txBox="1"/>
          <p:nvPr/>
        </p:nvSpPr>
        <p:spPr>
          <a:xfrm>
            <a:off x="2254288" y="3222253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8B79D97-4273-3719-D1D7-7647BB39A512}"/>
              </a:ext>
            </a:extLst>
          </p:cNvPr>
          <p:cNvSpPr txBox="1"/>
          <p:nvPr/>
        </p:nvSpPr>
        <p:spPr>
          <a:xfrm>
            <a:off x="9321800" y="3230747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0E52280-42F3-A50B-E2E3-733F625DFC77}"/>
              </a:ext>
            </a:extLst>
          </p:cNvPr>
          <p:cNvSpPr txBox="1"/>
          <p:nvPr/>
        </p:nvSpPr>
        <p:spPr>
          <a:xfrm>
            <a:off x="295836" y="4751782"/>
            <a:ext cx="5955875" cy="1099974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別名之命名無限制</a:t>
            </a:r>
            <a:endParaRPr lang="en-US" altLang="zh-TW" dirty="0"/>
          </a:p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針對</a:t>
            </a:r>
            <a:r>
              <a:rPr lang="en-US" altLang="zh-TW" dirty="0"/>
              <a:t>[</a:t>
            </a:r>
            <a:r>
              <a:rPr lang="en-US" altLang="zh-TW" sz="18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18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r>
              <a:rPr lang="en-US" altLang="zh-TW" sz="18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]</a:t>
            </a:r>
            <a:r>
              <a:rPr lang="zh-TW" altLang="en-US" sz="18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及</a:t>
            </a:r>
            <a:r>
              <a:rPr lang="en-US" altLang="zh-TW" sz="18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[</a:t>
            </a:r>
            <a:r>
              <a:rPr lang="zh-TW" altLang="en-US" sz="18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專屬類憑證</a:t>
            </a:r>
            <a:r>
              <a:rPr lang="en-US" altLang="zh-TW" sz="18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]</a:t>
            </a:r>
            <a:r>
              <a:rPr lang="zh-TW" altLang="en-US" dirty="0"/>
              <a:t>請做差異命名，有利辨識</a:t>
            </a:r>
            <a:endParaRPr lang="en-US" altLang="zh-TW" dirty="0"/>
          </a:p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請避用中文字，防止機讀上出現字元編碼錯誤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D8E8743-8EAB-8652-F972-15A84372D605}"/>
              </a:ext>
            </a:extLst>
          </p:cNvPr>
          <p:cNvSpPr txBox="1"/>
          <p:nvPr/>
        </p:nvSpPr>
        <p:spPr>
          <a:xfrm>
            <a:off x="8746326" y="4782104"/>
            <a:ext cx="1733694" cy="519665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自定義密碼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5B1D7825-F7CC-B38F-3E45-5AD3470BE21D}"/>
              </a:ext>
            </a:extLst>
          </p:cNvPr>
          <p:cNvSpPr txBox="1">
            <a:spLocks/>
          </p:cNvSpPr>
          <p:nvPr/>
        </p:nvSpPr>
        <p:spPr>
          <a:xfrm>
            <a:off x="8853698" y="62"/>
            <a:ext cx="3338302" cy="365125"/>
          </a:xfrm>
          <a:prstGeom prst="rect">
            <a:avLst/>
          </a:prstGeom>
          <a:solidFill>
            <a:srgbClr val="3EC0AA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以製作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類憑證為例</a:t>
            </a:r>
          </a:p>
        </p:txBody>
      </p:sp>
    </p:spTree>
    <p:extLst>
      <p:ext uri="{BB962C8B-B14F-4D97-AF65-F5344CB8AC3E}">
        <p14:creationId xmlns:p14="http://schemas.microsoft.com/office/powerpoint/2010/main" val="31031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1BE3C-BDEC-9C20-4DC8-1766E5D2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546597"/>
            <a:ext cx="8910320" cy="1124841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1-3: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 儲存金鑰對</a:t>
            </a:r>
          </a:p>
        </p:txBody>
      </p:sp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DD55D7A1-D226-54A7-76D2-8BAAB662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>
                <a:latin typeface="Arial Narrow" panose="020B0606020202030204" pitchFamily="34" charset="0"/>
              </a:rPr>
              <a:pPr/>
              <a:t>7</a:t>
            </a:fld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A7F2E5-D707-A4B7-D2B9-622DAB1A0795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BEBECDE-A69B-8C29-F707-96C70451D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80" y="2065276"/>
            <a:ext cx="4622799" cy="36189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72CE195-F37B-3925-7E55-CD5A99763EBE}"/>
              </a:ext>
            </a:extLst>
          </p:cNvPr>
          <p:cNvSpPr/>
          <p:nvPr/>
        </p:nvSpPr>
        <p:spPr>
          <a:xfrm>
            <a:off x="1717040" y="3319946"/>
            <a:ext cx="3027680" cy="594094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119C955-BE0C-5460-AE73-EDF648634F1B}"/>
              </a:ext>
            </a:extLst>
          </p:cNvPr>
          <p:cNvSpPr txBox="1"/>
          <p:nvPr/>
        </p:nvSpPr>
        <p:spPr>
          <a:xfrm>
            <a:off x="4556869" y="3673710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59E272B-7AD2-5011-9E63-99337F3228F7}"/>
              </a:ext>
            </a:extLst>
          </p:cNvPr>
          <p:cNvSpPr txBox="1"/>
          <p:nvPr/>
        </p:nvSpPr>
        <p:spPr>
          <a:xfrm>
            <a:off x="368738" y="4394162"/>
            <a:ext cx="4959459" cy="83312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鍵盤快捷鍵</a:t>
            </a:r>
            <a:r>
              <a:rPr lang="en-US" altLang="zh-TW" dirty="0"/>
              <a:t>: </a:t>
            </a:r>
            <a:r>
              <a:rPr lang="en-US" altLang="zh-TW" dirty="0" err="1"/>
              <a:t>Ctrl+S</a:t>
            </a:r>
            <a:r>
              <a:rPr lang="zh-TW" altLang="en-US" dirty="0"/>
              <a:t>，儲存目前製作中的金鑰對</a:t>
            </a:r>
            <a:endParaRPr lang="en-US" altLang="zh-TW" dirty="0"/>
          </a:p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為這個檔案設一組密碼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82110592-9B03-74FE-5640-84FE64F1A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646" y="2068157"/>
            <a:ext cx="6193242" cy="36161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3710A946-96E7-07E8-1528-A431A8947C0B}"/>
              </a:ext>
            </a:extLst>
          </p:cNvPr>
          <p:cNvSpPr/>
          <p:nvPr/>
        </p:nvSpPr>
        <p:spPr>
          <a:xfrm>
            <a:off x="7995920" y="4513675"/>
            <a:ext cx="3525520" cy="546005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47D655D-899E-F79D-6B71-0DDAB409FB56}"/>
              </a:ext>
            </a:extLst>
          </p:cNvPr>
          <p:cNvSpPr txBox="1"/>
          <p:nvPr/>
        </p:nvSpPr>
        <p:spPr>
          <a:xfrm>
            <a:off x="10932378" y="4270846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F436A7A-9D25-8330-0725-E575B088CD4D}"/>
              </a:ext>
            </a:extLst>
          </p:cNvPr>
          <p:cNvSpPr txBox="1"/>
          <p:nvPr/>
        </p:nvSpPr>
        <p:spPr>
          <a:xfrm>
            <a:off x="6515982" y="3673710"/>
            <a:ext cx="4101218" cy="430755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檔名需與</a:t>
            </a:r>
            <a:r>
              <a:rPr lang="en-US" altLang="zh-TW" dirty="0"/>
              <a:t>step1-2</a:t>
            </a:r>
            <a:r>
              <a:rPr lang="zh-TW" altLang="en-US" dirty="0"/>
              <a:t>設置的憑證別名相同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729B136-1835-1057-9561-4A867BE6B081}"/>
              </a:ext>
            </a:extLst>
          </p:cNvPr>
          <p:cNvSpPr txBox="1">
            <a:spLocks/>
          </p:cNvSpPr>
          <p:nvPr/>
        </p:nvSpPr>
        <p:spPr>
          <a:xfrm>
            <a:off x="8853698" y="62"/>
            <a:ext cx="3338302" cy="365125"/>
          </a:xfrm>
          <a:prstGeom prst="rect">
            <a:avLst/>
          </a:prstGeom>
          <a:solidFill>
            <a:srgbClr val="3EC0AA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以製作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類憑證為例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741A01-928E-6B04-DD81-120C7075EF46}"/>
              </a:ext>
            </a:extLst>
          </p:cNvPr>
          <p:cNvSpPr/>
          <p:nvPr/>
        </p:nvSpPr>
        <p:spPr>
          <a:xfrm>
            <a:off x="8102600" y="4820919"/>
            <a:ext cx="3108960" cy="153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zh-TW" altLang="en-US" sz="85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所有檔案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BB200EE8-ED18-20AD-E985-1D3A17BF2CF8}"/>
              </a:ext>
            </a:extLst>
          </p:cNvPr>
          <p:cNvSpPr txBox="1">
            <a:spLocks/>
          </p:cNvSpPr>
          <p:nvPr/>
        </p:nvSpPr>
        <p:spPr>
          <a:xfrm>
            <a:off x="995486" y="1460090"/>
            <a:ext cx="645306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600" dirty="0">
                <a:solidFill>
                  <a:srgbClr val="C00000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#</a:t>
            </a:r>
            <a:r>
              <a:rPr lang="zh-TW" altLang="en-US" sz="1600" dirty="0">
                <a:solidFill>
                  <a:srgbClr val="C00000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請妥善保存</a:t>
            </a:r>
            <a:r>
              <a:rPr lang="en-US" altLang="zh-TW" sz="1600" dirty="0">
                <a:solidFill>
                  <a:srgbClr val="C00000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keystore</a:t>
            </a:r>
            <a:r>
              <a:rPr lang="zh-TW" altLang="en-US" sz="1600" dirty="0">
                <a:solidFill>
                  <a:srgbClr val="C00000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及密碼，若檔案遺失或密碼忘記則需重新申請</a:t>
            </a:r>
          </a:p>
        </p:txBody>
      </p:sp>
    </p:spTree>
    <p:extLst>
      <p:ext uri="{BB962C8B-B14F-4D97-AF65-F5344CB8AC3E}">
        <p14:creationId xmlns:p14="http://schemas.microsoft.com/office/powerpoint/2010/main" val="108624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C29E14-9D74-A246-7645-6227AAC8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0D821F7-3BBE-B938-1D81-1E807E2A5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62" y="2670442"/>
            <a:ext cx="4499085" cy="3441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CE5EF7D3-F4F0-3BD4-BE02-6DA9CD91C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565847"/>
            <a:ext cx="8910320" cy="1124841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2: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 產製憑證請求檔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(.</a:t>
            </a:r>
            <a:r>
              <a:rPr lang="en-US" altLang="zh-TW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csr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3A184C-6E18-A265-71DA-2D53C1C947B2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693779-000B-5213-8B87-D7DA169EABD8}"/>
              </a:ext>
            </a:extLst>
          </p:cNvPr>
          <p:cNvSpPr/>
          <p:nvPr/>
        </p:nvSpPr>
        <p:spPr>
          <a:xfrm>
            <a:off x="2935675" y="4745356"/>
            <a:ext cx="1422400" cy="190711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F034A1E-BFA0-4928-663D-E2BABA05CA0B}"/>
              </a:ext>
            </a:extLst>
          </p:cNvPr>
          <p:cNvSpPr txBox="1"/>
          <p:nvPr/>
        </p:nvSpPr>
        <p:spPr>
          <a:xfrm>
            <a:off x="2470883" y="4618356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7CFA0A9-43DC-A273-99CF-83E524F53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229" y="1690688"/>
            <a:ext cx="4615359" cy="270065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82B2AC7-5B2F-A2F8-C7C9-05A42ADF8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111" y="4262310"/>
            <a:ext cx="5163271" cy="181000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29FEE325-BABC-29F4-C701-0A74CFF7CC5B}"/>
              </a:ext>
            </a:extLst>
          </p:cNvPr>
          <p:cNvSpPr/>
          <p:nvPr/>
        </p:nvSpPr>
        <p:spPr>
          <a:xfrm>
            <a:off x="8439150" y="3822700"/>
            <a:ext cx="611218" cy="200023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0EEB4A9-84CA-1E27-AB56-75B9DE1B2CFA}"/>
              </a:ext>
            </a:extLst>
          </p:cNvPr>
          <p:cNvSpPr txBox="1"/>
          <p:nvPr/>
        </p:nvSpPr>
        <p:spPr>
          <a:xfrm>
            <a:off x="7894049" y="3724458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D6C0D8-7FAD-4DA3-886D-01B65063E602}"/>
              </a:ext>
            </a:extLst>
          </p:cNvPr>
          <p:cNvSpPr/>
          <p:nvPr/>
        </p:nvSpPr>
        <p:spPr>
          <a:xfrm>
            <a:off x="7232650" y="5238750"/>
            <a:ext cx="2197100" cy="368300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827EC82-4CCC-E3FE-6916-D7B5B1217A3E}"/>
              </a:ext>
            </a:extLst>
          </p:cNvPr>
          <p:cNvSpPr txBox="1"/>
          <p:nvPr/>
        </p:nvSpPr>
        <p:spPr>
          <a:xfrm>
            <a:off x="9611469" y="5197131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3.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386A5D7-FBB1-79CB-B10B-12433C766202}"/>
              </a:ext>
            </a:extLst>
          </p:cNvPr>
          <p:cNvSpPr txBox="1"/>
          <p:nvPr/>
        </p:nvSpPr>
        <p:spPr>
          <a:xfrm>
            <a:off x="7132320" y="5976729"/>
            <a:ext cx="4407729" cy="430755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#Step1-3</a:t>
            </a:r>
            <a:r>
              <a:rPr lang="zh-TW" altLang="en-US" dirty="0"/>
              <a:t>的指定儲存路徑下會新增一個</a:t>
            </a:r>
            <a:r>
              <a:rPr lang="en-US" altLang="zh-TW" dirty="0"/>
              <a:t>.</a:t>
            </a:r>
            <a:r>
              <a:rPr lang="en-US" altLang="zh-TW" dirty="0" err="1"/>
              <a:t>csr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51BE807-28FD-56E2-87E5-CDB84910C76D}"/>
              </a:ext>
            </a:extLst>
          </p:cNvPr>
          <p:cNvSpPr txBox="1">
            <a:spLocks/>
          </p:cNvSpPr>
          <p:nvPr/>
        </p:nvSpPr>
        <p:spPr>
          <a:xfrm>
            <a:off x="8853698" y="62"/>
            <a:ext cx="3338302" cy="365125"/>
          </a:xfrm>
          <a:prstGeom prst="rect">
            <a:avLst/>
          </a:prstGeom>
          <a:solidFill>
            <a:srgbClr val="3EC0AA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以製作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類憑證為例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1DD92C-49A4-FC23-0E9D-8DC86F141AFE}"/>
              </a:ext>
            </a:extLst>
          </p:cNvPr>
          <p:cNvSpPr/>
          <p:nvPr/>
        </p:nvSpPr>
        <p:spPr>
          <a:xfrm>
            <a:off x="6076631" y="2231139"/>
            <a:ext cx="637436" cy="249594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FC56E34-3488-9174-F420-E1DDC58A04BE}"/>
              </a:ext>
            </a:extLst>
          </p:cNvPr>
          <p:cNvSpPr txBox="1"/>
          <p:nvPr/>
        </p:nvSpPr>
        <p:spPr>
          <a:xfrm>
            <a:off x="1392504" y="5147844"/>
            <a:ext cx="2739492" cy="797303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zh-TW" altLang="en-US" dirty="0"/>
              <a:t>針對金鑰對按滑鼠右鍵，選擇</a:t>
            </a:r>
            <a:r>
              <a:rPr lang="en-US" altLang="zh-TW" dirty="0"/>
              <a:t>Generate CSR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8E9E363-DFDC-7F4F-89F4-2B7A4B4CDEA0}"/>
              </a:ext>
            </a:extLst>
          </p:cNvPr>
          <p:cNvSpPr txBox="1"/>
          <p:nvPr/>
        </p:nvSpPr>
        <p:spPr>
          <a:xfrm>
            <a:off x="7894049" y="3158580"/>
            <a:ext cx="685997" cy="461414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zh-TW" altLang="en-US" dirty="0"/>
              <a:t>儲存</a:t>
            </a:r>
          </a:p>
        </p:txBody>
      </p:sp>
    </p:spTree>
    <p:extLst>
      <p:ext uri="{BB962C8B-B14F-4D97-AF65-F5344CB8AC3E}">
        <p14:creationId xmlns:p14="http://schemas.microsoft.com/office/powerpoint/2010/main" val="364669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A84FE3-13E3-7666-D9A2-83834651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18C58922-FABA-CA33-7101-EFE751DC3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104" y="340632"/>
            <a:ext cx="10830561" cy="1996440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3</a:t>
            </a:r>
            <a:b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</a:br>
            <a:r>
              <a:rPr lang="zh-TW" altLang="en-US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請依照</a:t>
            </a:r>
            <a:r>
              <a:rPr lang="en-US" altLang="zh-TW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step1~step2</a:t>
            </a:r>
            <a:r>
              <a:rPr lang="zh-TW" altLang="en-US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指引，產出不同憑證之共計</a:t>
            </a:r>
            <a:r>
              <a:rPr lang="en-US" altLang="zh-TW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2</a:t>
            </a:r>
            <a:r>
              <a:rPr lang="zh-TW" altLang="en-US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個</a:t>
            </a:r>
            <a:r>
              <a:rPr lang="en-US" altLang="zh-TW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32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csr</a:t>
            </a:r>
            <a:br>
              <a:rPr lang="en-US" altLang="zh-TW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</a:br>
            <a:r>
              <a:rPr lang="zh-TW" altLang="en-US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以</a:t>
            </a:r>
            <a:r>
              <a:rPr lang="en-US" altLang="zh-TW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32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csr</a:t>
            </a:r>
            <a:r>
              <a:rPr lang="zh-TW" altLang="en-US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向</a:t>
            </a:r>
            <a:r>
              <a:rPr lang="en-US" altLang="zh-TW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GCA</a:t>
            </a:r>
            <a:r>
              <a:rPr lang="zh-TW" altLang="en-US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提出申請</a:t>
            </a:r>
            <a:endParaRPr lang="zh-TW" altLang="en-US" sz="36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2C73A2-E72B-FFEC-779B-6552974F913E}"/>
              </a:ext>
            </a:extLst>
          </p:cNvPr>
          <p:cNvSpPr/>
          <p:nvPr/>
        </p:nvSpPr>
        <p:spPr>
          <a:xfrm>
            <a:off x="435245" y="1058181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F5E5454-16CF-CF6A-9037-090B2DD1CE0F}"/>
              </a:ext>
            </a:extLst>
          </p:cNvPr>
          <p:cNvSpPr txBox="1">
            <a:spLocks/>
          </p:cNvSpPr>
          <p:nvPr/>
        </p:nvSpPr>
        <p:spPr>
          <a:xfrm>
            <a:off x="5873021" y="391431"/>
            <a:ext cx="1635760" cy="666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en-US" altLang="zh-TW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(1) SSL</a:t>
            </a: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endParaRPr lang="en-US" altLang="zh-TW" sz="1800" b="1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  <a:p>
            <a:pPr>
              <a:spcBef>
                <a:spcPts val="600"/>
              </a:spcBef>
            </a:pPr>
            <a:r>
              <a:rPr lang="en-US" altLang="zh-TW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(2) </a:t>
            </a: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專屬類憑證</a:t>
            </a:r>
            <a:endParaRPr lang="en-US" altLang="zh-TW" sz="1800" b="1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F147F26B-9A81-7FE0-D55F-4E86CD29D922}"/>
              </a:ext>
            </a:extLst>
          </p:cNvPr>
          <p:cNvCxnSpPr/>
          <p:nvPr/>
        </p:nvCxnSpPr>
        <p:spPr>
          <a:xfrm>
            <a:off x="5786661" y="1653267"/>
            <a:ext cx="180848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標題 1">
            <a:extLst>
              <a:ext uri="{FF2B5EF4-FFF2-40B4-BE49-F238E27FC236}">
                <a16:creationId xmlns:a16="http://schemas.microsoft.com/office/drawing/2014/main" id="{58CB7967-EF6D-786A-8901-F568BF0792B0}"/>
              </a:ext>
            </a:extLst>
          </p:cNvPr>
          <p:cNvSpPr txBox="1">
            <a:spLocks/>
          </p:cNvSpPr>
          <p:nvPr/>
        </p:nvSpPr>
        <p:spPr>
          <a:xfrm>
            <a:off x="712104" y="4603087"/>
            <a:ext cx="7466696" cy="13982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4</a:t>
            </a:r>
            <a:br>
              <a:rPr lang="en-US" altLang="zh-TW" sz="3600" dirty="0">
                <a:latin typeface="Arial Narrow" panose="020B0606020202030204" pitchFamily="34" charset="0"/>
                <a:ea typeface="微軟正黑體" panose="020B0604030504040204" pitchFamily="34" charset="-120"/>
              </a:rPr>
            </a:br>
            <a:r>
              <a:rPr lang="en-US" altLang="zh-TW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GCA</a:t>
            </a:r>
            <a:r>
              <a:rPr lang="zh-TW" altLang="en-US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審核通過後</a:t>
            </a:r>
            <a:br>
              <a:rPr lang="en-US" altLang="zh-TW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</a:br>
            <a:r>
              <a:rPr lang="zh-TW" altLang="en-US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會提供憑證公鑰</a:t>
            </a:r>
            <a:r>
              <a:rPr lang="en-US" altLang="zh-TW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(.</a:t>
            </a:r>
            <a:r>
              <a:rPr lang="en-US" altLang="zh-TW" sz="32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cer</a:t>
            </a:r>
            <a:r>
              <a:rPr lang="en-US" altLang="zh-TW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)</a:t>
            </a:r>
            <a:r>
              <a:rPr lang="zh-TW" altLang="en-US" sz="32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下載</a:t>
            </a:r>
            <a:endParaRPr lang="zh-TW" altLang="en-US" sz="36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E3B98229-F568-F5AE-40E3-8E2CFB2EF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877956"/>
              </p:ext>
            </p:extLst>
          </p:nvPr>
        </p:nvGraphicFramePr>
        <p:xfrm>
          <a:off x="658765" y="2373257"/>
          <a:ext cx="11146791" cy="1938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843">
                  <a:extLst>
                    <a:ext uri="{9D8B030D-6E8A-4147-A177-3AD203B41FA5}">
                      <a16:colId xmlns:a16="http://schemas.microsoft.com/office/drawing/2014/main" val="3589564969"/>
                    </a:ext>
                  </a:extLst>
                </a:gridCol>
                <a:gridCol w="5914069">
                  <a:extLst>
                    <a:ext uri="{9D8B030D-6E8A-4147-A177-3AD203B41FA5}">
                      <a16:colId xmlns:a16="http://schemas.microsoft.com/office/drawing/2014/main" val="3625380875"/>
                    </a:ext>
                  </a:extLst>
                </a:gridCol>
                <a:gridCol w="4607879">
                  <a:extLst>
                    <a:ext uri="{9D8B030D-6E8A-4147-A177-3AD203B41FA5}">
                      <a16:colId xmlns:a16="http://schemas.microsoft.com/office/drawing/2014/main" val="2196106576"/>
                    </a:ext>
                  </a:extLst>
                </a:gridCol>
              </a:tblGrid>
              <a:tr h="637253"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SSL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類憑證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專屬類憑證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848913"/>
                  </a:ext>
                </a:extLst>
              </a:tr>
              <a:tr h="646103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zh-TW" altLang="en-US" sz="1600" b="1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網站名稱</a:t>
                      </a:r>
                      <a:r>
                        <a:rPr lang="zh-TW" altLang="en-US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en-US" altLang="zh-TW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xxx.troad.gov.tw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zh-TW" altLang="en-US" sz="1600" b="1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命名規則</a:t>
                      </a:r>
                      <a:r>
                        <a:rPr lang="zh-TW" altLang="en-US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：得設置資料中心機關英文縮寫</a:t>
                      </a:r>
                      <a:r>
                        <a:rPr lang="en-US" altLang="zh-TW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機關英文縮寫</a:t>
                      </a:r>
                      <a:r>
                        <a:rPr lang="en-US" altLang="zh-TW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流水號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zh-TW" altLang="en-US" sz="1600" b="1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軟體名稱</a:t>
                      </a:r>
                      <a:r>
                        <a:rPr lang="zh-TW" altLang="en-US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en-US" altLang="zh-TW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T-Road</a:t>
                      </a:r>
                      <a:r>
                        <a:rPr lang="zh-TW" altLang="en-US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專屬機關名稱簽章及加解密</a:t>
                      </a:r>
                      <a:endParaRPr lang="en-US" altLang="zh-TW" sz="1600" dirty="0">
                        <a:latin typeface="Arial Narrow" panose="020B0606020202030204" pitchFamily="34" charset="0"/>
                        <a:ea typeface="微軟正黑體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zh-TW" altLang="en-US" sz="1600" b="1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憑證用途</a:t>
                      </a:r>
                      <a:r>
                        <a:rPr lang="zh-TW" altLang="en-US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：☑簽章 ☑加解密 </a:t>
                      </a:r>
                      <a:r>
                        <a:rPr lang="en-US" altLang="zh-TW" sz="1600" b="1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 b="1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兩項均需勾選</a:t>
                      </a:r>
                      <a:r>
                        <a:rPr lang="en-US" altLang="zh-TW" sz="1600" b="1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458636"/>
                  </a:ext>
                </a:extLst>
              </a:tr>
              <a:tr h="646103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申請網址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  <a:hlinkClick r:id="rId2"/>
                        </a:rPr>
                        <a:t>https://gcaweb.nat.gov.tw/GCP/views/SAPSSL/SSL_3.html</a:t>
                      </a:r>
                      <a:endParaRPr lang="zh-TW" altLang="en-US" sz="1600" dirty="0">
                        <a:latin typeface="Arial Narrow" panose="020B0606020202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  <a:hlinkClick r:id="rId3"/>
                        </a:rPr>
                        <a:t>https://gcaweb.nat.gov.tw/GCP/views/SAPSSL/SAP_1.html</a:t>
                      </a:r>
                      <a:r>
                        <a:rPr lang="en-US" altLang="zh-TW" sz="1600" dirty="0">
                          <a:latin typeface="Arial Narrow" panose="020B0606020202030204" pitchFamily="34" charset="0"/>
                          <a:ea typeface="微軟正黑體" panose="020B0604030504040204" pitchFamily="34" charset="-120"/>
                        </a:rPr>
                        <a:t> </a:t>
                      </a:r>
                      <a:endParaRPr lang="zh-TW" altLang="en-US" sz="1600" dirty="0">
                        <a:latin typeface="Arial Narrow" panose="020B0606020202030204" pitchFamily="34" charset="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039675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362E013C-83CC-0AA0-B784-64BEF35D8041}"/>
              </a:ext>
            </a:extLst>
          </p:cNvPr>
          <p:cNvSpPr/>
          <p:nvPr/>
        </p:nvSpPr>
        <p:spPr>
          <a:xfrm>
            <a:off x="435245" y="4969779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935D661A-54C8-500D-912B-7F761218D92F}"/>
              </a:ext>
            </a:extLst>
          </p:cNvPr>
          <p:cNvSpPr txBox="1">
            <a:spLocks/>
          </p:cNvSpPr>
          <p:nvPr/>
        </p:nvSpPr>
        <p:spPr>
          <a:xfrm>
            <a:off x="7175498" y="4568143"/>
            <a:ext cx="4630058" cy="181863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TW" altLang="en-US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前往</a:t>
            </a:r>
            <a:r>
              <a:rPr lang="en-US" altLang="zh-TW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GCP</a:t>
            </a:r>
            <a:r>
              <a:rPr lang="zh-TW" altLang="en-US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政府憑證入口網 </a:t>
            </a:r>
            <a:r>
              <a:rPr lang="en-US" altLang="zh-TW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(</a:t>
            </a:r>
            <a:r>
              <a:rPr lang="en-US" altLang="zh-TW" sz="1600" dirty="0">
                <a:latin typeface="Arial Narrow" panose="020B0606020202030204" pitchFamily="34" charset="0"/>
                <a:ea typeface="微軟正黑體" panose="020B0604030504040204" pitchFamily="34" charset="-120"/>
                <a:hlinkClick r:id="rId4"/>
              </a:rPr>
              <a:t>https://gcp.nat.gov.tw/</a:t>
            </a:r>
            <a:r>
              <a:rPr lang="en-US" altLang="zh-TW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TW" altLang="en-US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前往憑證管理 </a:t>
            </a:r>
            <a:r>
              <a:rPr lang="en-US" altLang="zh-TW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&gt;</a:t>
            </a:r>
            <a:r>
              <a:rPr lang="zh-TW" altLang="en-US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 憑證查詢及下載</a:t>
            </a:r>
            <a:endParaRPr lang="en-US" altLang="zh-TW" sz="16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altLang="zh-TW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類憑證下載時請輸入</a:t>
            </a:r>
            <a:r>
              <a:rPr lang="zh-TW" altLang="en-US" sz="16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憑證別名</a:t>
            </a:r>
            <a:br>
              <a:rPr lang="en-US" altLang="zh-TW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</a:br>
            <a:r>
              <a:rPr lang="zh-TW" altLang="en-US" sz="16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專屬類憑證下載時請輸入</a:t>
            </a:r>
            <a:r>
              <a:rPr lang="zh-TW" altLang="en-US" sz="16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憑證序號</a:t>
            </a:r>
          </a:p>
        </p:txBody>
      </p:sp>
    </p:spTree>
    <p:extLst>
      <p:ext uri="{BB962C8B-B14F-4D97-AF65-F5344CB8AC3E}">
        <p14:creationId xmlns:p14="http://schemas.microsoft.com/office/powerpoint/2010/main" val="199568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35390C-3241-378F-DBEA-F79EEB22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45E33084-6694-9CEC-69B7-3BCCC95E884C}"/>
              </a:ext>
            </a:extLst>
          </p:cNvPr>
          <p:cNvSpPr txBox="1">
            <a:spLocks/>
          </p:cNvSpPr>
          <p:nvPr/>
        </p:nvSpPr>
        <p:spPr>
          <a:xfrm>
            <a:off x="889000" y="565847"/>
            <a:ext cx="8910320" cy="1124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5-1: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 將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cer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加入金鑰對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CA8B56-A840-1CB9-7F32-D416BF395EF4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6ADE86C2-E591-9260-E3D1-C7C414CA9B2A}"/>
              </a:ext>
            </a:extLst>
          </p:cNvPr>
          <p:cNvGrpSpPr/>
          <p:nvPr/>
        </p:nvGrpSpPr>
        <p:grpSpPr>
          <a:xfrm>
            <a:off x="482065" y="2000366"/>
            <a:ext cx="5023108" cy="3905451"/>
            <a:chOff x="482065" y="2209281"/>
            <a:chExt cx="5023108" cy="3905451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A69F96E-0799-C639-0D72-587B2F5EA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2065" y="2209281"/>
              <a:ext cx="5023108" cy="39054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ADAEDEA-4FC6-5A31-DA26-9FF10BF7792C}"/>
                </a:ext>
              </a:extLst>
            </p:cNvPr>
            <p:cNvSpPr/>
            <p:nvPr/>
          </p:nvSpPr>
          <p:spPr>
            <a:xfrm>
              <a:off x="2696803" y="4984053"/>
              <a:ext cx="2769870" cy="238760"/>
            </a:xfrm>
            <a:prstGeom prst="rect">
              <a:avLst/>
            </a:prstGeom>
            <a:solidFill>
              <a:srgbClr val="FFFFFF">
                <a:alpha val="5098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Arial Narrow" panose="020B0606020202030204" pitchFamily="34" charset="0"/>
              </a:endParaRPr>
            </a:p>
          </p:txBody>
        </p:sp>
      </p:grpSp>
      <p:pic>
        <p:nvPicPr>
          <p:cNvPr id="11" name="圖片 10">
            <a:extLst>
              <a:ext uri="{FF2B5EF4-FFF2-40B4-BE49-F238E27FC236}">
                <a16:creationId xmlns:a16="http://schemas.microsoft.com/office/drawing/2014/main" id="{9EF349B3-5513-4DB4-5082-F516F6E40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865" y="1941071"/>
            <a:ext cx="5958920" cy="40240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F51B6B4-2D28-C52B-7E86-D391F31E7808}"/>
              </a:ext>
            </a:extLst>
          </p:cNvPr>
          <p:cNvSpPr/>
          <p:nvPr/>
        </p:nvSpPr>
        <p:spPr>
          <a:xfrm>
            <a:off x="9914021" y="4902100"/>
            <a:ext cx="519764" cy="288758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FDC4267-CDBE-3A0E-7B76-B1E14A9E8798}"/>
              </a:ext>
            </a:extLst>
          </p:cNvPr>
          <p:cNvSpPr txBox="1"/>
          <p:nvPr/>
        </p:nvSpPr>
        <p:spPr>
          <a:xfrm>
            <a:off x="2203755" y="4649973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57380E2-D6BD-01B6-AAA9-0F5CB2C9418B}"/>
              </a:ext>
            </a:extLst>
          </p:cNvPr>
          <p:cNvSpPr txBox="1"/>
          <p:nvPr/>
        </p:nvSpPr>
        <p:spPr>
          <a:xfrm>
            <a:off x="9993103" y="4347956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9091A1-9147-C7A1-EDF6-81A945297CD5}"/>
              </a:ext>
            </a:extLst>
          </p:cNvPr>
          <p:cNvSpPr/>
          <p:nvPr/>
        </p:nvSpPr>
        <p:spPr>
          <a:xfrm>
            <a:off x="10041545" y="5505777"/>
            <a:ext cx="912003" cy="400040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5D17B0B-8053-C51A-6B83-CB0FF0F04669}"/>
              </a:ext>
            </a:extLst>
          </p:cNvPr>
          <p:cNvSpPr txBox="1"/>
          <p:nvPr/>
        </p:nvSpPr>
        <p:spPr>
          <a:xfrm>
            <a:off x="1242942" y="1941072"/>
            <a:ext cx="4101218" cy="687218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打開</a:t>
            </a:r>
            <a:r>
              <a:rPr lang="en-US" altLang="zh-TW" dirty="0"/>
              <a:t>step1-3</a:t>
            </a:r>
            <a:r>
              <a:rPr lang="zh-TW" altLang="en-US" dirty="0"/>
              <a:t>製作的金鑰對，滑鼠右鍵，選擇將</a:t>
            </a:r>
            <a:r>
              <a:rPr lang="en-US" altLang="zh-TW" dirty="0"/>
              <a:t>.</a:t>
            </a:r>
            <a:r>
              <a:rPr lang="en-US" altLang="zh-TW" dirty="0" err="1"/>
              <a:t>cer</a:t>
            </a:r>
            <a:r>
              <a:rPr lang="zh-TW" altLang="en-US" dirty="0"/>
              <a:t>匯入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F49E968-E908-D466-B0D5-2EFD807830ED}"/>
              </a:ext>
            </a:extLst>
          </p:cNvPr>
          <p:cNvSpPr txBox="1">
            <a:spLocks/>
          </p:cNvSpPr>
          <p:nvPr/>
        </p:nvSpPr>
        <p:spPr>
          <a:xfrm>
            <a:off x="8853698" y="62"/>
            <a:ext cx="3338302" cy="365125"/>
          </a:xfrm>
          <a:prstGeom prst="rect">
            <a:avLst/>
          </a:prstGeom>
          <a:solidFill>
            <a:srgbClr val="3EC0AA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以製作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類憑證為例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F7301D8-D757-B530-5F91-DEF810538950}"/>
              </a:ext>
            </a:extLst>
          </p:cNvPr>
          <p:cNvSpPr txBox="1"/>
          <p:nvPr/>
        </p:nvSpPr>
        <p:spPr>
          <a:xfrm>
            <a:off x="7930150" y="6216600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3.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074755-B42A-3C5B-7E64-7B017AF121FB}"/>
              </a:ext>
            </a:extLst>
          </p:cNvPr>
          <p:cNvSpPr txBox="1"/>
          <p:nvPr/>
        </p:nvSpPr>
        <p:spPr>
          <a:xfrm>
            <a:off x="8551351" y="6216600"/>
            <a:ext cx="1540898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匯入成功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002F5AC6-7343-8A14-6660-D91F1ED848E7}"/>
              </a:ext>
            </a:extLst>
          </p:cNvPr>
          <p:cNvSpPr txBox="1">
            <a:spLocks/>
          </p:cNvSpPr>
          <p:nvPr/>
        </p:nvSpPr>
        <p:spPr>
          <a:xfrm>
            <a:off x="943643" y="1436656"/>
            <a:ext cx="9046059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600" dirty="0">
                <a:solidFill>
                  <a:srgbClr val="C00000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#</a:t>
            </a:r>
            <a:r>
              <a:rPr lang="zh-TW" altLang="en-US" sz="1600" dirty="0">
                <a:solidFill>
                  <a:srgbClr val="C00000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若匯入時出現配對失敗之錯誤訊息，請與憑證中心確認所核發之憑證是否正確。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5B04E8C-8334-78E8-A751-89B4905ACC51}"/>
              </a:ext>
            </a:extLst>
          </p:cNvPr>
          <p:cNvSpPr txBox="1"/>
          <p:nvPr/>
        </p:nvSpPr>
        <p:spPr>
          <a:xfrm>
            <a:off x="7813467" y="3774521"/>
            <a:ext cx="3578433" cy="40004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選擇從</a:t>
            </a:r>
            <a:r>
              <a:rPr lang="en-US" altLang="zh-TW" dirty="0"/>
              <a:t>GCA</a:t>
            </a:r>
            <a:r>
              <a:rPr lang="zh-TW" altLang="en-US" dirty="0"/>
              <a:t>取得的</a:t>
            </a:r>
            <a:r>
              <a:rPr lang="en-US" altLang="zh-TW" sz="18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18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r>
              <a:rPr lang="en-US" altLang="zh-TW" sz="18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1800" b="1" dirty="0" err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cer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9464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E8866B-E017-4848-863F-4EE40F8F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5DDE4919-537B-8992-5437-F18961B485DD}"/>
              </a:ext>
            </a:extLst>
          </p:cNvPr>
          <p:cNvSpPr txBox="1">
            <a:spLocks/>
          </p:cNvSpPr>
          <p:nvPr/>
        </p:nvSpPr>
        <p:spPr>
          <a:xfrm>
            <a:off x="889000" y="565847"/>
            <a:ext cx="9834880" cy="1124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5-2: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 將製作結果輸出為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  <a:endParaRPr lang="zh-TW" altLang="en-US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DA9046-4B5F-392F-8416-E5CE226CD210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9301EF2-103F-7BA9-D05C-78C879BDBB7D}"/>
              </a:ext>
            </a:extLst>
          </p:cNvPr>
          <p:cNvSpPr txBox="1">
            <a:spLocks/>
          </p:cNvSpPr>
          <p:nvPr/>
        </p:nvSpPr>
        <p:spPr>
          <a:xfrm>
            <a:off x="8853698" y="62"/>
            <a:ext cx="3338302" cy="365125"/>
          </a:xfrm>
          <a:prstGeom prst="rect">
            <a:avLst/>
          </a:prstGeom>
          <a:solidFill>
            <a:srgbClr val="3EC0AA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以製作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類憑證為例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6ED738B-04A7-1A84-F21A-E7D4198B5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53" y="1760851"/>
            <a:ext cx="4991357" cy="3905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21FC291-5D1A-66CD-8B26-EB8DA2171853}"/>
              </a:ext>
            </a:extLst>
          </p:cNvPr>
          <p:cNvSpPr/>
          <p:nvPr/>
        </p:nvSpPr>
        <p:spPr>
          <a:xfrm>
            <a:off x="3561140" y="3804238"/>
            <a:ext cx="1809549" cy="322931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1F46835-BDB2-D134-FDED-6E2662173084}"/>
              </a:ext>
            </a:extLst>
          </p:cNvPr>
          <p:cNvSpPr txBox="1"/>
          <p:nvPr/>
        </p:nvSpPr>
        <p:spPr>
          <a:xfrm>
            <a:off x="3678622" y="2755488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68EB11D8-8021-8E5D-B239-A6199E7BB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739" y="1760851"/>
            <a:ext cx="5653893" cy="3733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C71363F-AA02-157B-88A6-1DFED5CAE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909" y="5103869"/>
            <a:ext cx="5344386" cy="1295212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ECEB7EBD-7BCF-6250-073C-224F1C6150DA}"/>
              </a:ext>
            </a:extLst>
          </p:cNvPr>
          <p:cNvSpPr txBox="1"/>
          <p:nvPr/>
        </p:nvSpPr>
        <p:spPr>
          <a:xfrm>
            <a:off x="8468984" y="6076150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4.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5751EB9-762A-1A25-5245-48F6273122E6}"/>
              </a:ext>
            </a:extLst>
          </p:cNvPr>
          <p:cNvSpPr txBox="1"/>
          <p:nvPr/>
        </p:nvSpPr>
        <p:spPr>
          <a:xfrm>
            <a:off x="7385849" y="2676486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9B078A-350D-7C2D-A2F0-402BA03B09EB}"/>
              </a:ext>
            </a:extLst>
          </p:cNvPr>
          <p:cNvSpPr/>
          <p:nvPr/>
        </p:nvSpPr>
        <p:spPr>
          <a:xfrm>
            <a:off x="8382204" y="3367448"/>
            <a:ext cx="721315" cy="342672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82B83C2-8113-6C70-07E1-1274FA5640EA}"/>
              </a:ext>
            </a:extLst>
          </p:cNvPr>
          <p:cNvSpPr txBox="1"/>
          <p:nvPr/>
        </p:nvSpPr>
        <p:spPr>
          <a:xfrm>
            <a:off x="8075743" y="2655597"/>
            <a:ext cx="3060685" cy="430755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選擇</a:t>
            </a:r>
            <a:r>
              <a:rPr lang="en-US" altLang="zh-TW" dirty="0"/>
              <a:t>.pem</a:t>
            </a:r>
            <a:r>
              <a:rPr lang="zh-TW" altLang="en-US" dirty="0"/>
              <a:t>並輸入金鑰對密碼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4FA4AC-C123-FAD7-8145-3117DEC8EE07}"/>
              </a:ext>
            </a:extLst>
          </p:cNvPr>
          <p:cNvSpPr/>
          <p:nvPr/>
        </p:nvSpPr>
        <p:spPr>
          <a:xfrm>
            <a:off x="10050266" y="4673114"/>
            <a:ext cx="875258" cy="430755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EBAC268-BE30-E7A8-3CAF-D3E5039B2544}"/>
              </a:ext>
            </a:extLst>
          </p:cNvPr>
          <p:cNvSpPr txBox="1"/>
          <p:nvPr/>
        </p:nvSpPr>
        <p:spPr>
          <a:xfrm>
            <a:off x="9413450" y="4672282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3.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F1BFC23-046A-7406-2304-FF3542C135C7}"/>
              </a:ext>
            </a:extLst>
          </p:cNvPr>
          <p:cNvSpPr txBox="1"/>
          <p:nvPr/>
        </p:nvSpPr>
        <p:spPr>
          <a:xfrm>
            <a:off x="9027160" y="3721565"/>
            <a:ext cx="2484655" cy="430755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自設儲存路徑並輸出</a:t>
            </a: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1E4A374-B6B6-7212-902D-A9D6140DEEF4}"/>
              </a:ext>
            </a:extLst>
          </p:cNvPr>
          <p:cNvSpPr/>
          <p:nvPr/>
        </p:nvSpPr>
        <p:spPr>
          <a:xfrm>
            <a:off x="7783775" y="3511226"/>
            <a:ext cx="76200" cy="8399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2CFA4-50B5-7B89-CE6A-0D9127ECB013}"/>
              </a:ext>
            </a:extLst>
          </p:cNvPr>
          <p:cNvSpPr/>
          <p:nvPr/>
        </p:nvSpPr>
        <p:spPr>
          <a:xfrm>
            <a:off x="8500211" y="3514726"/>
            <a:ext cx="69850" cy="76993"/>
          </a:xfrm>
          <a:prstGeom prst="ellipse">
            <a:avLst/>
          </a:prstGeom>
          <a:solidFill>
            <a:srgbClr val="4F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354285-CFCD-FA5B-D3E8-B1BB1F3000FD}"/>
              </a:ext>
            </a:extLst>
          </p:cNvPr>
          <p:cNvSpPr/>
          <p:nvPr/>
        </p:nvSpPr>
        <p:spPr>
          <a:xfrm>
            <a:off x="10522849" y="4372581"/>
            <a:ext cx="266805" cy="1547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00" dirty="0">
                <a:solidFill>
                  <a:srgbClr val="43162C"/>
                </a:solidFill>
              </a:rPr>
              <a:t>.pem</a:t>
            </a:r>
            <a:endParaRPr lang="zh-TW" altLang="en-US" sz="1000" dirty="0">
              <a:solidFill>
                <a:srgbClr val="43162C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DECAB2-5876-7C6F-648A-1241DB82DCE7}"/>
              </a:ext>
            </a:extLst>
          </p:cNvPr>
          <p:cNvSpPr/>
          <p:nvPr/>
        </p:nvSpPr>
        <p:spPr>
          <a:xfrm>
            <a:off x="7851448" y="6189100"/>
            <a:ext cx="280843" cy="162925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050" dirty="0">
                <a:solidFill>
                  <a:srgbClr val="F0FAFF"/>
                </a:solidFill>
              </a:rPr>
              <a:t>.pem</a:t>
            </a:r>
            <a:endParaRPr lang="zh-TW" altLang="en-US" sz="1050" dirty="0">
              <a:solidFill>
                <a:srgbClr val="F0FAFF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DA8D0CE-88B2-C19C-F25E-81C013CEBD59}"/>
              </a:ext>
            </a:extLst>
          </p:cNvPr>
          <p:cNvSpPr txBox="1"/>
          <p:nvPr/>
        </p:nvSpPr>
        <p:spPr>
          <a:xfrm>
            <a:off x="3678622" y="3252812"/>
            <a:ext cx="3065078" cy="430755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滑鼠右鍵，選擇輸出金鑰對</a:t>
            </a:r>
          </a:p>
        </p:txBody>
      </p:sp>
    </p:spTree>
    <p:extLst>
      <p:ext uri="{BB962C8B-B14F-4D97-AF65-F5344CB8AC3E}">
        <p14:creationId xmlns:p14="http://schemas.microsoft.com/office/powerpoint/2010/main" val="12923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42681F-2138-FC4F-D555-9ED01292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8685980-520B-B1E9-9E5F-87EB6C316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360" y="3718560"/>
            <a:ext cx="6934770" cy="1974069"/>
          </a:xfrm>
          <a:prstGeom prst="rect">
            <a:avLst/>
          </a:prstGeom>
        </p:spPr>
      </p:pic>
      <p:sp>
        <p:nvSpPr>
          <p:cNvPr id="14" name="標題 1">
            <a:extLst>
              <a:ext uri="{FF2B5EF4-FFF2-40B4-BE49-F238E27FC236}">
                <a16:creationId xmlns:a16="http://schemas.microsoft.com/office/drawing/2014/main" id="{F1AD4ADF-F702-0041-D067-C1BF37FF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99" y="1691640"/>
            <a:ext cx="10958363" cy="173736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TW" sz="49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6</a:t>
            </a:r>
            <a:b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</a:br>
            <a:r>
              <a:rPr lang="zh-TW" altLang="en-US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請依照</a:t>
            </a:r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step5-1~step5-2</a:t>
            </a:r>
            <a:r>
              <a:rPr lang="zh-TW" altLang="en-US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指引，產出兩張憑證各自的</a:t>
            </a:r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  <a:endParaRPr lang="zh-TW" altLang="en-US" sz="40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9B95CB-2200-641B-5F7B-58E20C2044AB}"/>
              </a:ext>
            </a:extLst>
          </p:cNvPr>
          <p:cNvSpPr/>
          <p:nvPr/>
        </p:nvSpPr>
        <p:spPr>
          <a:xfrm>
            <a:off x="599440" y="232156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FCA2DB-2FAC-E9A3-A718-AF7040D8204C}"/>
              </a:ext>
            </a:extLst>
          </p:cNvPr>
          <p:cNvSpPr/>
          <p:nvPr/>
        </p:nvSpPr>
        <p:spPr>
          <a:xfrm>
            <a:off x="5664200" y="5073210"/>
            <a:ext cx="381000" cy="199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rgbClr val="F0FAFF"/>
                </a:solidFill>
              </a:rPr>
              <a:t>.pem</a:t>
            </a:r>
            <a:endParaRPr lang="zh-TW" altLang="en-US" sz="1400" dirty="0">
              <a:solidFill>
                <a:srgbClr val="F0FA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CDF0F6-4D5E-44BA-06E7-38D0E69C4EB4}"/>
              </a:ext>
            </a:extLst>
          </p:cNvPr>
          <p:cNvSpPr/>
          <p:nvPr/>
        </p:nvSpPr>
        <p:spPr>
          <a:xfrm>
            <a:off x="5946775" y="5470085"/>
            <a:ext cx="381000" cy="199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rgbClr val="F0FAFF"/>
                </a:solidFill>
              </a:rPr>
              <a:t>.pem</a:t>
            </a:r>
            <a:endParaRPr lang="zh-TW" altLang="en-US" sz="1400" dirty="0">
              <a:solidFill>
                <a:srgbClr val="F0FA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04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2EA8CDAD-FFD0-56D3-DB73-00B6BFB19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76" y="1636604"/>
            <a:ext cx="6122644" cy="47784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619B93-CCC6-7337-1DD2-37D8C4CD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ACF16308-FFF0-D586-4DB5-9D237F55F5F3}"/>
              </a:ext>
            </a:extLst>
          </p:cNvPr>
          <p:cNvSpPr txBox="1">
            <a:spLocks/>
          </p:cNvSpPr>
          <p:nvPr/>
        </p:nvSpPr>
        <p:spPr>
          <a:xfrm>
            <a:off x="889000" y="565847"/>
            <a:ext cx="10632440" cy="1124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7-1: 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預備將兩份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合併儲存成一個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endParaRPr lang="zh-TW" altLang="en-US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3E70C4-15F0-E3DC-595B-926F44CC88A4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5CC2AC-520A-C326-DE70-450F8096BA31}"/>
              </a:ext>
            </a:extLst>
          </p:cNvPr>
          <p:cNvSpPr/>
          <p:nvPr/>
        </p:nvSpPr>
        <p:spPr>
          <a:xfrm>
            <a:off x="3075954" y="3769360"/>
            <a:ext cx="1059165" cy="973236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FC50462-1833-891D-D08D-AA507C445607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135119" y="3770608"/>
            <a:ext cx="439863" cy="476272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1866BAAB-19BF-C77C-B03C-0AE61039547B}"/>
              </a:ext>
            </a:extLst>
          </p:cNvPr>
          <p:cNvSpPr/>
          <p:nvPr/>
        </p:nvSpPr>
        <p:spPr>
          <a:xfrm>
            <a:off x="4574982" y="3617755"/>
            <a:ext cx="1435488" cy="305706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73585CE5-2346-63EA-26B6-D18F47953F3D}"/>
              </a:ext>
            </a:extLst>
          </p:cNvPr>
          <p:cNvCxnSpPr>
            <a:cxnSpLocks/>
            <a:endCxn id="12" idx="2"/>
          </p:cNvCxnSpPr>
          <p:nvPr/>
        </p:nvCxnSpPr>
        <p:spPr>
          <a:xfrm flipH="1" flipV="1">
            <a:off x="5292726" y="3923461"/>
            <a:ext cx="341421" cy="1142863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1ECE24C-8711-0604-8662-325117A50D55}"/>
              </a:ext>
            </a:extLst>
          </p:cNvPr>
          <p:cNvCxnSpPr>
            <a:cxnSpLocks/>
          </p:cNvCxnSpPr>
          <p:nvPr/>
        </p:nvCxnSpPr>
        <p:spPr>
          <a:xfrm flipH="1">
            <a:off x="5634147" y="3321525"/>
            <a:ext cx="1733224" cy="1744799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9D3CF03-BBEB-276C-6882-0C1E106A8910}"/>
              </a:ext>
            </a:extLst>
          </p:cNvPr>
          <p:cNvSpPr txBox="1"/>
          <p:nvPr/>
        </p:nvSpPr>
        <p:spPr>
          <a:xfrm>
            <a:off x="7680090" y="2761445"/>
            <a:ext cx="2154790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zh-TW" altLang="en-US" dirty="0"/>
              <a:t>新增一張空白</a:t>
            </a:r>
            <a:r>
              <a:rPr lang="en-US" altLang="zh-TW" dirty="0"/>
              <a:t>.</a:t>
            </a:r>
            <a:r>
              <a:rPr lang="en-US" altLang="zh-TW" dirty="0" err="1"/>
              <a:t>jks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E227C56-4996-D45B-EE7F-E5E3456C7055}"/>
              </a:ext>
            </a:extLst>
          </p:cNvPr>
          <p:cNvSpPr txBox="1"/>
          <p:nvPr/>
        </p:nvSpPr>
        <p:spPr>
          <a:xfrm>
            <a:off x="7092096" y="2761445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2665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619B93-CCC6-7337-1DD2-37D8C4CD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ACF16308-FFF0-D586-4DB5-9D237F55F5F3}"/>
              </a:ext>
            </a:extLst>
          </p:cNvPr>
          <p:cNvSpPr txBox="1">
            <a:spLocks/>
          </p:cNvSpPr>
          <p:nvPr/>
        </p:nvSpPr>
        <p:spPr>
          <a:xfrm>
            <a:off x="889000" y="565847"/>
            <a:ext cx="8910320" cy="1124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7-2: 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指定匯入檔案類型為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  <a:endParaRPr lang="zh-TW" altLang="en-US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3E70C4-15F0-E3DC-595B-926F44CC88A4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C5C3B00-7BAA-36E4-72D2-730B0FFC8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23167"/>
            <a:ext cx="4953255" cy="39499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104DBCC-1477-095A-FF28-CAB3C841D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876" y="2016817"/>
            <a:ext cx="5010407" cy="39562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F99C976B-D7E4-2E2E-B797-835FDAD727B9}"/>
              </a:ext>
            </a:extLst>
          </p:cNvPr>
          <p:cNvSpPr txBox="1"/>
          <p:nvPr/>
        </p:nvSpPr>
        <p:spPr>
          <a:xfrm>
            <a:off x="1321216" y="4102565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0439247-BF46-02C9-D8F4-2B7B95F4F48C}"/>
              </a:ext>
            </a:extLst>
          </p:cNvPr>
          <p:cNvSpPr txBox="1"/>
          <p:nvPr/>
        </p:nvSpPr>
        <p:spPr>
          <a:xfrm>
            <a:off x="6812091" y="3429000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3286617A-0C48-4628-8012-93239367A61F}"/>
              </a:ext>
            </a:extLst>
          </p:cNvPr>
          <p:cNvSpPr txBox="1">
            <a:spLocks/>
          </p:cNvSpPr>
          <p:nvPr/>
        </p:nvSpPr>
        <p:spPr>
          <a:xfrm>
            <a:off x="8134350" y="62"/>
            <a:ext cx="4057650" cy="365125"/>
          </a:xfrm>
          <a:prstGeom prst="rect">
            <a:avLst/>
          </a:prstGeom>
          <a:solidFill>
            <a:srgbClr val="3EC0AA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以匯入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為例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5A3336EE-11C6-D5C4-BA2A-3611A85F14F6}"/>
              </a:ext>
            </a:extLst>
          </p:cNvPr>
          <p:cNvSpPr/>
          <p:nvPr/>
        </p:nvSpPr>
        <p:spPr>
          <a:xfrm>
            <a:off x="7555707" y="3907631"/>
            <a:ext cx="78581" cy="78581"/>
          </a:xfrm>
          <a:prstGeom prst="ellipse">
            <a:avLst/>
          </a:prstGeom>
          <a:solidFill>
            <a:srgbClr val="4F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216F001-7B0F-CD9E-65E3-3D5B76004DC8}"/>
              </a:ext>
            </a:extLst>
          </p:cNvPr>
          <p:cNvSpPr/>
          <p:nvPr/>
        </p:nvSpPr>
        <p:spPr>
          <a:xfrm>
            <a:off x="7555706" y="3710627"/>
            <a:ext cx="78581" cy="80374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8079E3-7803-5EC5-94EA-1DF0FB12E679}"/>
              </a:ext>
            </a:extLst>
          </p:cNvPr>
          <p:cNvSpPr/>
          <p:nvPr/>
        </p:nvSpPr>
        <p:spPr>
          <a:xfrm>
            <a:off x="7430673" y="3825505"/>
            <a:ext cx="1168021" cy="234525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98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圖片 37">
            <a:extLst>
              <a:ext uri="{FF2B5EF4-FFF2-40B4-BE49-F238E27FC236}">
                <a16:creationId xmlns:a16="http://schemas.microsoft.com/office/drawing/2014/main" id="{4B960BDE-C5EC-925B-023B-2E08D64A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518" y="1792288"/>
            <a:ext cx="5665832" cy="4258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A5EDE4-4C3D-60EE-B373-16BC5F0A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E996358A-F321-AED1-7A71-22D91073EFCB}"/>
              </a:ext>
            </a:extLst>
          </p:cNvPr>
          <p:cNvSpPr txBox="1">
            <a:spLocks/>
          </p:cNvSpPr>
          <p:nvPr/>
        </p:nvSpPr>
        <p:spPr>
          <a:xfrm>
            <a:off x="889000" y="565847"/>
            <a:ext cx="8910320" cy="1124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7-3: 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匯入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(1/2)</a:t>
            </a:r>
            <a:endParaRPr lang="zh-TW" altLang="en-US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48902A-3595-E448-70BF-B817CF034534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E771F66-8913-03F8-2AD2-E448CA28EA87}"/>
              </a:ext>
            </a:extLst>
          </p:cNvPr>
          <p:cNvSpPr txBox="1"/>
          <p:nvPr/>
        </p:nvSpPr>
        <p:spPr>
          <a:xfrm>
            <a:off x="6594031" y="3616637"/>
            <a:ext cx="2444530" cy="319257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zh-TW" altLang="en-US" dirty="0"/>
              <a:t>選擇</a:t>
            </a:r>
            <a:r>
              <a:rPr lang="en-US" altLang="zh-TW" dirty="0"/>
              <a:t>SSL</a:t>
            </a:r>
            <a:r>
              <a:rPr lang="zh-TW" altLang="en-US" dirty="0"/>
              <a:t>憑證的</a:t>
            </a:r>
            <a:r>
              <a:rPr lang="en-US" altLang="zh-TW" dirty="0"/>
              <a:t>.pem</a:t>
            </a:r>
            <a:r>
              <a:rPr lang="zh-TW" altLang="en-US" dirty="0"/>
              <a:t>檔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12907B8-5ECB-6C7B-6EC9-CBCD67256E29}"/>
              </a:ext>
            </a:extLst>
          </p:cNvPr>
          <p:cNvSpPr txBox="1"/>
          <p:nvPr/>
        </p:nvSpPr>
        <p:spPr>
          <a:xfrm>
            <a:off x="4595681" y="3050526"/>
            <a:ext cx="431288" cy="319257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7" name="標題 1">
            <a:extLst>
              <a:ext uri="{FF2B5EF4-FFF2-40B4-BE49-F238E27FC236}">
                <a16:creationId xmlns:a16="http://schemas.microsoft.com/office/drawing/2014/main" id="{EAAE7EFE-DC58-9C90-7DD9-307BB77C2F36}"/>
              </a:ext>
            </a:extLst>
          </p:cNvPr>
          <p:cNvSpPr txBox="1">
            <a:spLocks/>
          </p:cNvSpPr>
          <p:nvPr/>
        </p:nvSpPr>
        <p:spPr>
          <a:xfrm>
            <a:off x="8134350" y="62"/>
            <a:ext cx="4057650" cy="365125"/>
          </a:xfrm>
          <a:prstGeom prst="rect">
            <a:avLst/>
          </a:prstGeom>
          <a:solidFill>
            <a:srgbClr val="3EC0AA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以匯入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為例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5CD6B5-56F0-11F5-041C-AFDFF3A7DD66}"/>
              </a:ext>
            </a:extLst>
          </p:cNvPr>
          <p:cNvSpPr/>
          <p:nvPr/>
        </p:nvSpPr>
        <p:spPr>
          <a:xfrm>
            <a:off x="5834063" y="4053095"/>
            <a:ext cx="1217779" cy="207804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B068943-E1F0-1206-2E76-17D91A70CDB7}"/>
              </a:ext>
            </a:extLst>
          </p:cNvPr>
          <p:cNvSpPr txBox="1"/>
          <p:nvPr/>
        </p:nvSpPr>
        <p:spPr>
          <a:xfrm>
            <a:off x="5998650" y="3616637"/>
            <a:ext cx="431288" cy="319257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09D44B2-895D-BC74-EF52-CE51F7FFD09D}"/>
              </a:ext>
            </a:extLst>
          </p:cNvPr>
          <p:cNvSpPr txBox="1"/>
          <p:nvPr/>
        </p:nvSpPr>
        <p:spPr>
          <a:xfrm>
            <a:off x="5201514" y="3051995"/>
            <a:ext cx="1850328" cy="319257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zh-TW" altLang="en-US" dirty="0"/>
              <a:t>打勾後輸入密碼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B4E863E-E4BB-6AC7-A2FB-4B3818B1A623}"/>
              </a:ext>
            </a:extLst>
          </p:cNvPr>
          <p:cNvSpPr txBox="1"/>
          <p:nvPr/>
        </p:nvSpPr>
        <p:spPr>
          <a:xfrm>
            <a:off x="5294269" y="4344499"/>
            <a:ext cx="431288" cy="319257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3.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A73E3D0-089A-1FA4-6625-21058797CCFF}"/>
              </a:ext>
            </a:extLst>
          </p:cNvPr>
          <p:cNvSpPr/>
          <p:nvPr/>
        </p:nvSpPr>
        <p:spPr>
          <a:xfrm>
            <a:off x="5834063" y="4307124"/>
            <a:ext cx="1217779" cy="207804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3BFA4C7-A2C3-4FCA-63BC-6DFCE1344C72}"/>
              </a:ext>
            </a:extLst>
          </p:cNvPr>
          <p:cNvSpPr txBox="1"/>
          <p:nvPr/>
        </p:nvSpPr>
        <p:spPr>
          <a:xfrm>
            <a:off x="3493051" y="4736333"/>
            <a:ext cx="2780749" cy="319257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zh-TW" altLang="en-US" dirty="0"/>
              <a:t>選擇核發的</a:t>
            </a:r>
            <a:r>
              <a:rPr lang="en-US" altLang="zh-TW" dirty="0"/>
              <a:t>SSL</a:t>
            </a:r>
            <a:r>
              <a:rPr lang="zh-TW" altLang="en-US" dirty="0"/>
              <a:t>憑證</a:t>
            </a:r>
            <a:r>
              <a:rPr lang="en-US" altLang="zh-TW" dirty="0"/>
              <a:t>.</a:t>
            </a:r>
            <a:r>
              <a:rPr lang="en-US" altLang="zh-TW" dirty="0" err="1"/>
              <a:t>cer</a:t>
            </a:r>
            <a:r>
              <a:rPr lang="zh-TW" altLang="en-US" dirty="0"/>
              <a:t>檔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EFCB2C6-B7B6-4832-EC14-B9A89D3695DB}"/>
              </a:ext>
            </a:extLst>
          </p:cNvPr>
          <p:cNvSpPr/>
          <p:nvPr/>
        </p:nvSpPr>
        <p:spPr>
          <a:xfrm>
            <a:off x="7144160" y="4577160"/>
            <a:ext cx="624591" cy="319257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3B40E84-576F-CCB0-AA30-E290BD08423A}"/>
              </a:ext>
            </a:extLst>
          </p:cNvPr>
          <p:cNvSpPr/>
          <p:nvPr/>
        </p:nvSpPr>
        <p:spPr>
          <a:xfrm>
            <a:off x="4613235" y="3501437"/>
            <a:ext cx="333415" cy="374650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2D2BF24-957F-D17B-F340-19117B3B0FF1}"/>
              </a:ext>
            </a:extLst>
          </p:cNvPr>
          <p:cNvSpPr txBox="1"/>
          <p:nvPr/>
        </p:nvSpPr>
        <p:spPr>
          <a:xfrm>
            <a:off x="7240811" y="4994510"/>
            <a:ext cx="431288" cy="319257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4.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411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A5EDE4-4C3D-60EE-B373-16BC5F0A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E996358A-F321-AED1-7A71-22D91073EFCB}"/>
              </a:ext>
            </a:extLst>
          </p:cNvPr>
          <p:cNvSpPr txBox="1">
            <a:spLocks/>
          </p:cNvSpPr>
          <p:nvPr/>
        </p:nvSpPr>
        <p:spPr>
          <a:xfrm>
            <a:off x="889000" y="565847"/>
            <a:ext cx="8910320" cy="1124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7-3: 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匯入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.pem (2/2)</a:t>
            </a:r>
            <a:endParaRPr lang="zh-TW" altLang="en-US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48902A-3595-E448-70BF-B817CF034534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7" name="標題 1">
            <a:extLst>
              <a:ext uri="{FF2B5EF4-FFF2-40B4-BE49-F238E27FC236}">
                <a16:creationId xmlns:a16="http://schemas.microsoft.com/office/drawing/2014/main" id="{EAAE7EFE-DC58-9C90-7DD9-307BB77C2F36}"/>
              </a:ext>
            </a:extLst>
          </p:cNvPr>
          <p:cNvSpPr txBox="1">
            <a:spLocks/>
          </p:cNvSpPr>
          <p:nvPr/>
        </p:nvSpPr>
        <p:spPr>
          <a:xfrm>
            <a:off x="8134350" y="62"/>
            <a:ext cx="4057650" cy="365125"/>
          </a:xfrm>
          <a:prstGeom prst="rect">
            <a:avLst/>
          </a:prstGeom>
          <a:solidFill>
            <a:srgbClr val="3EC0AA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以匯入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為例</a:t>
            </a: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BA1745EA-A68B-865A-C961-CBB95676B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819518"/>
            <a:ext cx="4299171" cy="25210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5AB7FB31-01AD-36F7-18FA-903464305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224" y="2525651"/>
            <a:ext cx="4311872" cy="2698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1DD1E70B-756A-4091-CDDA-103EF6E83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606" y="3562322"/>
            <a:ext cx="4489834" cy="23972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76F3FC8E-DF63-3F0C-B832-856BEAD5F7C7}"/>
              </a:ext>
            </a:extLst>
          </p:cNvPr>
          <p:cNvSpPr txBox="1"/>
          <p:nvPr/>
        </p:nvSpPr>
        <p:spPr>
          <a:xfrm>
            <a:off x="1277692" y="4180234"/>
            <a:ext cx="431288" cy="319257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3E154F-B93A-DC21-EEA8-AC6182C0EBB8}"/>
              </a:ext>
            </a:extLst>
          </p:cNvPr>
          <p:cNvSpPr/>
          <p:nvPr/>
        </p:nvSpPr>
        <p:spPr>
          <a:xfrm>
            <a:off x="1935628" y="3467625"/>
            <a:ext cx="1803252" cy="277577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456A486-3D82-E764-6C82-CAA90DC36CE7}"/>
              </a:ext>
            </a:extLst>
          </p:cNvPr>
          <p:cNvSpPr txBox="1"/>
          <p:nvPr/>
        </p:nvSpPr>
        <p:spPr>
          <a:xfrm>
            <a:off x="1883525" y="4181704"/>
            <a:ext cx="1719690" cy="317788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zh-TW" altLang="en-US" dirty="0"/>
              <a:t>設定憑證別名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38874AC-89A2-483B-89C9-9D6877A7E50E}"/>
              </a:ext>
            </a:extLst>
          </p:cNvPr>
          <p:cNvSpPr txBox="1"/>
          <p:nvPr/>
        </p:nvSpPr>
        <p:spPr>
          <a:xfrm>
            <a:off x="4465359" y="5015197"/>
            <a:ext cx="431288" cy="319257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7336BEC-0140-F634-F754-619562C837D6}"/>
              </a:ext>
            </a:extLst>
          </p:cNvPr>
          <p:cNvSpPr txBox="1"/>
          <p:nvPr/>
        </p:nvSpPr>
        <p:spPr>
          <a:xfrm>
            <a:off x="5071192" y="5016667"/>
            <a:ext cx="1488325" cy="317788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zh-TW" altLang="en-US" dirty="0"/>
              <a:t>設定新密碼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D23397-231F-0481-7454-83F35045FA1A}"/>
              </a:ext>
            </a:extLst>
          </p:cNvPr>
          <p:cNvSpPr/>
          <p:nvPr/>
        </p:nvSpPr>
        <p:spPr>
          <a:xfrm>
            <a:off x="8389096" y="5030469"/>
            <a:ext cx="1720104" cy="812800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AA617CD-D0B8-F7F7-E939-B52D2F5BC36B}"/>
              </a:ext>
            </a:extLst>
          </p:cNvPr>
          <p:cNvSpPr txBox="1"/>
          <p:nvPr/>
        </p:nvSpPr>
        <p:spPr>
          <a:xfrm>
            <a:off x="8389096" y="6086908"/>
            <a:ext cx="431288" cy="319257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3.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82FEAF0-85BE-F129-015A-46867101E13C}"/>
              </a:ext>
            </a:extLst>
          </p:cNvPr>
          <p:cNvSpPr txBox="1"/>
          <p:nvPr/>
        </p:nvSpPr>
        <p:spPr>
          <a:xfrm>
            <a:off x="8994929" y="6088378"/>
            <a:ext cx="1253971" cy="317788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zh-TW" altLang="en-US" dirty="0"/>
              <a:t>匯入成功</a:t>
            </a:r>
          </a:p>
        </p:txBody>
      </p:sp>
    </p:spTree>
    <p:extLst>
      <p:ext uri="{BB962C8B-B14F-4D97-AF65-F5344CB8AC3E}">
        <p14:creationId xmlns:p14="http://schemas.microsoft.com/office/powerpoint/2010/main" val="4245666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B20625-AC8F-E7F0-B431-0F18CF02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131EDE78-EECC-4DD3-2DBB-14F51D4F3B82}"/>
              </a:ext>
            </a:extLst>
          </p:cNvPr>
          <p:cNvSpPr txBox="1">
            <a:spLocks/>
          </p:cNvSpPr>
          <p:nvPr/>
        </p:nvSpPr>
        <p:spPr>
          <a:xfrm>
            <a:off x="889000" y="565847"/>
            <a:ext cx="11176000" cy="1124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7-4: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 匯入兩份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.pem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完成，為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設定密碼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77ACAF-EF26-06A2-2EE1-5B7B5943A49C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ECB7E11-1E9A-89D9-17D7-A1B4CC1C7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580" y="2128510"/>
            <a:ext cx="5166843" cy="40215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06383D1-7430-6FD0-7680-E3FC6EB83E7F}"/>
              </a:ext>
            </a:extLst>
          </p:cNvPr>
          <p:cNvSpPr/>
          <p:nvPr/>
        </p:nvSpPr>
        <p:spPr>
          <a:xfrm>
            <a:off x="2758586" y="3202300"/>
            <a:ext cx="1883707" cy="498536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3EAB3FD8-3D3B-47AC-40AF-1E15FDD13D56}"/>
              </a:ext>
            </a:extLst>
          </p:cNvPr>
          <p:cNvGrpSpPr/>
          <p:nvPr/>
        </p:nvGrpSpPr>
        <p:grpSpPr>
          <a:xfrm>
            <a:off x="5225738" y="2090420"/>
            <a:ext cx="5353362" cy="396507"/>
            <a:chOff x="4402156" y="1954582"/>
            <a:chExt cx="4961650" cy="396507"/>
          </a:xfrm>
        </p:grpSpPr>
        <p:sp>
          <p:nvSpPr>
            <p:cNvPr id="7" name="標題 1">
              <a:extLst>
                <a:ext uri="{FF2B5EF4-FFF2-40B4-BE49-F238E27FC236}">
                  <a16:creationId xmlns:a16="http://schemas.microsoft.com/office/drawing/2014/main" id="{44082824-5A2D-8292-A44E-A8B2C81BD1C9}"/>
                </a:ext>
              </a:extLst>
            </p:cNvPr>
            <p:cNvSpPr txBox="1">
              <a:spLocks/>
            </p:cNvSpPr>
            <p:nvPr/>
          </p:nvSpPr>
          <p:spPr>
            <a:xfrm>
              <a:off x="5030930" y="1954583"/>
              <a:ext cx="4332876" cy="396506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ctr">
                <a:defRPr b="1">
                  <a:solidFill>
                    <a:schemeClr val="bg1"/>
                  </a:solidFill>
                  <a:latin typeface="Arial Narrow" panose="020B0606020202030204" pitchFamily="34" charset="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zh-TW" altLang="en-US" dirty="0"/>
                <a:t>重複</a:t>
              </a:r>
              <a:r>
                <a:rPr lang="en-US" altLang="zh-TW" dirty="0"/>
                <a:t>step7-3</a:t>
              </a:r>
              <a:r>
                <a:rPr lang="zh-TW" altLang="en-US" dirty="0"/>
                <a:t>，將專屬類憑證</a:t>
              </a:r>
              <a:r>
                <a:rPr lang="en-US" altLang="zh-TW" dirty="0"/>
                <a:t>.pem</a:t>
              </a:r>
              <a:r>
                <a:rPr lang="zh-TW" altLang="en-US" dirty="0"/>
                <a:t>也完成匯入</a:t>
              </a: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D6CA93A-96E9-F554-2B32-7F16CBC003F6}"/>
                </a:ext>
              </a:extLst>
            </p:cNvPr>
            <p:cNvSpPr txBox="1"/>
            <p:nvPr/>
          </p:nvSpPr>
          <p:spPr>
            <a:xfrm>
              <a:off x="4402156" y="1954582"/>
              <a:ext cx="375702" cy="396506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TW" b="1" dirty="0">
                  <a:solidFill>
                    <a:schemeClr val="bg1"/>
                  </a:solidFill>
                  <a:latin typeface="Arial Narrow" panose="020B0606020202030204" pitchFamily="34" charset="0"/>
                  <a:ea typeface="微軟正黑體" panose="020B0604030504040204" pitchFamily="34" charset="-120"/>
                </a:rPr>
                <a:t>1.</a:t>
              </a:r>
              <a:endParaRPr lang="zh-TW" altLang="en-US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6CA2C37-9280-F175-1357-C5626A3AA560}"/>
              </a:ext>
            </a:extLst>
          </p:cNvPr>
          <p:cNvCxnSpPr>
            <a:cxnSpLocks/>
            <a:stCxn id="10" idx="0"/>
            <a:endCxn id="11" idx="1"/>
          </p:cNvCxnSpPr>
          <p:nvPr/>
        </p:nvCxnSpPr>
        <p:spPr>
          <a:xfrm flipV="1">
            <a:off x="3700440" y="2288673"/>
            <a:ext cx="1525298" cy="91362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7FE5A950-18C7-40A0-CADE-3B47A033329A}"/>
              </a:ext>
            </a:extLst>
          </p:cNvPr>
          <p:cNvSpPr/>
          <p:nvPr/>
        </p:nvSpPr>
        <p:spPr>
          <a:xfrm>
            <a:off x="4223319" y="4276090"/>
            <a:ext cx="1883707" cy="759132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2" name="標題 1">
            <a:extLst>
              <a:ext uri="{FF2B5EF4-FFF2-40B4-BE49-F238E27FC236}">
                <a16:creationId xmlns:a16="http://schemas.microsoft.com/office/drawing/2014/main" id="{F0BF5144-7E68-49C3-A7B8-FCE6C654526A}"/>
              </a:ext>
            </a:extLst>
          </p:cNvPr>
          <p:cNvSpPr txBox="1">
            <a:spLocks/>
          </p:cNvSpPr>
          <p:nvPr/>
        </p:nvSpPr>
        <p:spPr>
          <a:xfrm>
            <a:off x="7012234" y="3991509"/>
            <a:ext cx="3566866" cy="75913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zh-TW" dirty="0"/>
              <a:t>#</a:t>
            </a:r>
            <a:r>
              <a:rPr lang="zh-TW" altLang="en-US" dirty="0"/>
              <a:t>鍵盤快捷鍵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err="1"/>
              <a:t>Ctrl+S</a:t>
            </a:r>
            <a:r>
              <a:rPr lang="zh-TW" altLang="en-US" dirty="0"/>
              <a:t>，儲存</a:t>
            </a:r>
            <a:r>
              <a:rPr lang="en-US" altLang="zh-TW" dirty="0"/>
              <a:t>.</a:t>
            </a:r>
            <a:r>
              <a:rPr lang="en-US" altLang="zh-TW" dirty="0" err="1"/>
              <a:t>jks</a:t>
            </a:r>
            <a:endParaRPr lang="en-US" altLang="zh-TW" dirty="0"/>
          </a:p>
          <a:p>
            <a:pPr algn="l"/>
            <a:r>
              <a:rPr lang="en-US" altLang="zh-TW" dirty="0"/>
              <a:t>#</a:t>
            </a:r>
            <a:r>
              <a:rPr lang="zh-TW" altLang="en-US" dirty="0"/>
              <a:t>為此</a:t>
            </a:r>
            <a:r>
              <a:rPr lang="en-US" altLang="zh-TW" dirty="0"/>
              <a:t>.</a:t>
            </a:r>
            <a:r>
              <a:rPr lang="en-US" altLang="zh-TW" dirty="0" err="1"/>
              <a:t>jks</a:t>
            </a:r>
            <a:r>
              <a:rPr lang="zh-TW" altLang="en-US" dirty="0"/>
              <a:t>設定密碼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CA13E2E-0A9B-8F45-CE49-514C1B133287}"/>
              </a:ext>
            </a:extLst>
          </p:cNvPr>
          <p:cNvSpPr txBox="1"/>
          <p:nvPr/>
        </p:nvSpPr>
        <p:spPr>
          <a:xfrm>
            <a:off x="6433338" y="4008670"/>
            <a:ext cx="405363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4017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583A27-161D-42D2-9EA8-087633F4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1A9DB396-4D51-3037-1A23-7638D65034FC}"/>
              </a:ext>
            </a:extLst>
          </p:cNvPr>
          <p:cNvSpPr txBox="1">
            <a:spLocks/>
          </p:cNvSpPr>
          <p:nvPr/>
        </p:nvSpPr>
        <p:spPr>
          <a:xfrm>
            <a:off x="889000" y="565847"/>
            <a:ext cx="8910320" cy="1124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7-5: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 儲存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0A0912-9156-78D8-59F5-0EAB37A7608E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EC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B38F876D-D8EF-8955-4200-33588C6B6644}"/>
              </a:ext>
            </a:extLst>
          </p:cNvPr>
          <p:cNvGrpSpPr/>
          <p:nvPr/>
        </p:nvGrpSpPr>
        <p:grpSpPr>
          <a:xfrm>
            <a:off x="2863106" y="1673531"/>
            <a:ext cx="7224172" cy="4618622"/>
            <a:chOff x="1390440" y="1690688"/>
            <a:chExt cx="7224172" cy="4618622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847E33FB-5A62-9708-930F-F7EEC44E9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0440" y="1690688"/>
              <a:ext cx="5823160" cy="46186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1DA35A-960F-3414-A2B1-2790A9A98D60}"/>
                </a:ext>
              </a:extLst>
            </p:cNvPr>
            <p:cNvSpPr/>
            <p:nvPr/>
          </p:nvSpPr>
          <p:spPr>
            <a:xfrm>
              <a:off x="2618039" y="5167312"/>
              <a:ext cx="4595561" cy="684848"/>
            </a:xfrm>
            <a:prstGeom prst="rect">
              <a:avLst/>
            </a:prstGeom>
            <a:solidFill>
              <a:srgbClr val="FFFFFF">
                <a:alpha val="5098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Arial Narrow" panose="020B0606020202030204" pitchFamily="34" charset="0"/>
              </a:endParaRPr>
            </a:p>
          </p:txBody>
        </p: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3A2CF107-DA3E-380E-E8E0-3A7A1667DE64}"/>
                </a:ext>
              </a:extLst>
            </p:cNvPr>
            <p:cNvGrpSpPr/>
            <p:nvPr/>
          </p:nvGrpSpPr>
          <p:grpSpPr>
            <a:xfrm>
              <a:off x="5591020" y="4511908"/>
              <a:ext cx="3023592" cy="396507"/>
              <a:chOff x="4402156" y="1954582"/>
              <a:chExt cx="3214534" cy="396507"/>
            </a:xfrm>
          </p:grpSpPr>
          <p:sp>
            <p:nvSpPr>
              <p:cNvPr id="11" name="標題 1">
                <a:extLst>
                  <a:ext uri="{FF2B5EF4-FFF2-40B4-BE49-F238E27FC236}">
                    <a16:creationId xmlns:a16="http://schemas.microsoft.com/office/drawing/2014/main" id="{620D2EAF-0FCD-8CAF-A19A-4129F4BD8B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30930" y="1954583"/>
                <a:ext cx="2585760" cy="396506"/>
              </a:xfrm>
              <a:prstGeom prst="rect">
                <a:avLst/>
              </a:prstGeom>
              <a:solidFill>
                <a:srgbClr val="C00000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ctr">
                  <a:defRPr b="1">
                    <a:solidFill>
                      <a:schemeClr val="bg1"/>
                    </a:solidFill>
                    <a:latin typeface="Arial Narrow" panose="020B0606020202030204" pitchFamily="34" charset="0"/>
                    <a:ea typeface="微軟正黑體" panose="020B0604030504040204" pitchFamily="34" charset="-12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TW" altLang="en-US" dirty="0"/>
                  <a:t>自訂檔名，儲存完成</a:t>
                </a:r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C519A81-0B09-E06B-5B63-6BF7D771E536}"/>
                  </a:ext>
                </a:extLst>
              </p:cNvPr>
              <p:cNvSpPr txBox="1"/>
              <p:nvPr/>
            </p:nvSpPr>
            <p:spPr>
              <a:xfrm>
                <a:off x="4402156" y="1954582"/>
                <a:ext cx="375702" cy="396506"/>
              </a:xfrm>
              <a:prstGeom prst="rect">
                <a:avLst/>
              </a:prstGeom>
              <a:solidFill>
                <a:srgbClr val="C00000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TW" b="1" dirty="0">
                    <a:solidFill>
                      <a:schemeClr val="bg1"/>
                    </a:solidFill>
                    <a:latin typeface="Arial Narrow" panose="020B0606020202030204" pitchFamily="34" charset="0"/>
                    <a:ea typeface="微軟正黑體" panose="020B0604030504040204" pitchFamily="34" charset="-120"/>
                  </a:rPr>
                  <a:t>1.</a:t>
                </a:r>
                <a:endParaRPr lang="zh-TW" altLang="en-US" b="1" dirty="0">
                  <a:solidFill>
                    <a:schemeClr val="bg1"/>
                  </a:solidFill>
                  <a:latin typeface="Arial Narrow" panose="020B0606020202030204" pitchFamily="34" charset="0"/>
                  <a:ea typeface="微軟正黑體" panose="020B0604030504040204" pitchFamily="34" charset="-12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6511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C833E0-D26D-D10E-DD61-D6E7B1B1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845E7DA7-C35B-AF15-104A-75B3AB22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454" y="568960"/>
            <a:ext cx="8588266" cy="1091248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憑證信任庫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(</a:t>
            </a:r>
            <a:r>
              <a:rPr lang="en-US" altLang="zh-TW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TrustStore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製作邏輯說明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CED80E-146C-D1A0-D768-2A1C085E9287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144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資料庫圖表 6">
            <a:extLst>
              <a:ext uri="{FF2B5EF4-FFF2-40B4-BE49-F238E27FC236}">
                <a16:creationId xmlns:a16="http://schemas.microsoft.com/office/drawing/2014/main" id="{AB3D1F42-4BEB-3823-1893-688D8AAF7D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7488381"/>
              </p:ext>
            </p:extLst>
          </p:nvPr>
        </p:nvGraphicFramePr>
        <p:xfrm>
          <a:off x="1122056" y="2336157"/>
          <a:ext cx="5428713" cy="1192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標題 1">
            <a:extLst>
              <a:ext uri="{FF2B5EF4-FFF2-40B4-BE49-F238E27FC236}">
                <a16:creationId xmlns:a16="http://schemas.microsoft.com/office/drawing/2014/main" id="{E2334EB7-4207-2E6B-B194-E4DFC5FCF1C9}"/>
              </a:ext>
            </a:extLst>
          </p:cNvPr>
          <p:cNvSpPr txBox="1">
            <a:spLocks/>
          </p:cNvSpPr>
          <p:nvPr/>
        </p:nvSpPr>
        <p:spPr>
          <a:xfrm>
            <a:off x="6812914" y="2690251"/>
            <a:ext cx="1156972" cy="48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完成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92D8BC24-B875-BBE9-BA81-950CC65EA1FD}"/>
              </a:ext>
            </a:extLst>
          </p:cNvPr>
          <p:cNvSpPr txBox="1">
            <a:spLocks/>
          </p:cNvSpPr>
          <p:nvPr/>
        </p:nvSpPr>
        <p:spPr>
          <a:xfrm>
            <a:off x="982454" y="4000683"/>
            <a:ext cx="6985001" cy="1333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從</a:t>
            </a: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GCA</a:t>
            </a: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申請完成後，取得安控伺服器所需總共兩張憑證</a:t>
            </a: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(.</a:t>
            </a:r>
            <a:r>
              <a:rPr lang="en-US" altLang="zh-TW" sz="1800" b="1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cer</a:t>
            </a: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)</a:t>
            </a: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：</a:t>
            </a:r>
            <a:endParaRPr lang="en-US" altLang="zh-TW" sz="1800" b="1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  <a:p>
            <a:pPr>
              <a:spcBef>
                <a:spcPts val="600"/>
              </a:spcBef>
            </a:pP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(1)T-Road</a:t>
            </a: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專用伺服器應用軟體憑證 </a:t>
            </a: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(</a:t>
            </a: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簡稱</a:t>
            </a:r>
            <a:r>
              <a:rPr lang="en-US" altLang="zh-TW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r>
              <a:rPr lang="en-US" altLang="zh-TW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1800" b="1" dirty="0" err="1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cer</a:t>
            </a: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(2)</a:t>
            </a: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專屬類伺服應用軟體憑證 </a:t>
            </a: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(</a:t>
            </a:r>
            <a:r>
              <a:rPr lang="zh-TW" altLang="en-US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簡稱</a:t>
            </a:r>
            <a:r>
              <a:rPr lang="zh-TW" altLang="en-US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專屬類憑證</a:t>
            </a:r>
            <a:r>
              <a:rPr lang="en-US" altLang="zh-TW" sz="1800" b="1" dirty="0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1800" b="1" dirty="0" err="1">
                <a:solidFill>
                  <a:srgbClr val="2946D5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cer</a:t>
            </a:r>
            <a:r>
              <a:rPr lang="en-US" altLang="zh-TW" sz="18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BB7E547-AB5A-1DA1-6274-AA957C69136A}"/>
              </a:ext>
            </a:extLst>
          </p:cNvPr>
          <p:cNvSpPr txBox="1">
            <a:spLocks/>
          </p:cNvSpPr>
          <p:nvPr/>
        </p:nvSpPr>
        <p:spPr>
          <a:xfrm>
            <a:off x="1870147" y="1808690"/>
            <a:ext cx="1038046" cy="636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en-US" altLang="zh-TW" sz="24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1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EC58AECA-F010-6ADC-D4FC-00DF2CA25072}"/>
              </a:ext>
            </a:extLst>
          </p:cNvPr>
          <p:cNvSpPr txBox="1">
            <a:spLocks/>
          </p:cNvSpPr>
          <p:nvPr/>
        </p:nvSpPr>
        <p:spPr>
          <a:xfrm>
            <a:off x="4603187" y="1808690"/>
            <a:ext cx="1038046" cy="636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00"/>
              </a:spcBef>
            </a:pPr>
            <a:r>
              <a:rPr lang="en-US" altLang="zh-TW" sz="2400" b="1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771936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B35C72-0B21-2ED4-0A18-8F82BDBA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05C01EF4-178A-DF28-AA72-8DEC3D565964}"/>
              </a:ext>
            </a:extLst>
          </p:cNvPr>
          <p:cNvSpPr txBox="1">
            <a:spLocks/>
          </p:cNvSpPr>
          <p:nvPr/>
        </p:nvSpPr>
        <p:spPr>
          <a:xfrm>
            <a:off x="982454" y="568960"/>
            <a:ext cx="10823466" cy="1091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1-1: </a:t>
            </a:r>
            <a:r>
              <a:rPr lang="zh-TW" altLang="en-US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開始製作信任庫，新增空白</a:t>
            </a:r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40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endParaRPr lang="zh-TW" altLang="en-US" sz="40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E329D9-2925-CCBA-BB07-5002EDC1FDA6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144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E1C69CC-3ECD-A485-8946-9A618D543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76" y="1636604"/>
            <a:ext cx="6122644" cy="47784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54BFE3F-1690-6B66-D398-527C7D25BF86}"/>
              </a:ext>
            </a:extLst>
          </p:cNvPr>
          <p:cNvSpPr/>
          <p:nvPr/>
        </p:nvSpPr>
        <p:spPr>
          <a:xfrm>
            <a:off x="3075954" y="3707306"/>
            <a:ext cx="1059165" cy="973236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B47DA59-620A-0481-F9F3-E8C0A62157C0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4135119" y="3770608"/>
            <a:ext cx="439863" cy="476272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BC5D1636-C2E3-866F-77C2-89F2DAB2255C}"/>
              </a:ext>
            </a:extLst>
          </p:cNvPr>
          <p:cNvSpPr/>
          <p:nvPr/>
        </p:nvSpPr>
        <p:spPr>
          <a:xfrm>
            <a:off x="4574982" y="3617755"/>
            <a:ext cx="1435488" cy="305706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3ABA8036-ACC4-C857-DB50-3B89955CBDD1}"/>
              </a:ext>
            </a:extLst>
          </p:cNvPr>
          <p:cNvCxnSpPr>
            <a:cxnSpLocks/>
            <a:endCxn id="10" idx="2"/>
          </p:cNvCxnSpPr>
          <p:nvPr/>
        </p:nvCxnSpPr>
        <p:spPr>
          <a:xfrm flipH="1" flipV="1">
            <a:off x="5292726" y="3923461"/>
            <a:ext cx="341421" cy="1142863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09487F11-B52F-2EC3-41E4-43C5DE8B35DF}"/>
              </a:ext>
            </a:extLst>
          </p:cNvPr>
          <p:cNvCxnSpPr>
            <a:cxnSpLocks/>
          </p:cNvCxnSpPr>
          <p:nvPr/>
        </p:nvCxnSpPr>
        <p:spPr>
          <a:xfrm flipH="1">
            <a:off x="5634147" y="3321525"/>
            <a:ext cx="1733224" cy="1744799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3DB24E4-C349-67B8-0DA6-7E480D9CFECB}"/>
              </a:ext>
            </a:extLst>
          </p:cNvPr>
          <p:cNvSpPr txBox="1"/>
          <p:nvPr/>
        </p:nvSpPr>
        <p:spPr>
          <a:xfrm>
            <a:off x="7680090" y="2761445"/>
            <a:ext cx="1993299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zh-TW" altLang="en-US" dirty="0"/>
              <a:t>新增一張空白</a:t>
            </a:r>
            <a:r>
              <a:rPr lang="en-US" altLang="zh-TW" dirty="0"/>
              <a:t>.</a:t>
            </a:r>
            <a:r>
              <a:rPr lang="en-US" altLang="zh-TW" dirty="0" err="1"/>
              <a:t>jks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7BA1CD6-1716-E8B5-71E7-2C004473B6C6}"/>
              </a:ext>
            </a:extLst>
          </p:cNvPr>
          <p:cNvSpPr txBox="1"/>
          <p:nvPr/>
        </p:nvSpPr>
        <p:spPr>
          <a:xfrm>
            <a:off x="7092096" y="2761445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0483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B35C72-0B21-2ED4-0A18-8F82BDBA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05C01EF4-178A-DF28-AA72-8DEC3D565964}"/>
              </a:ext>
            </a:extLst>
          </p:cNvPr>
          <p:cNvSpPr txBox="1">
            <a:spLocks/>
          </p:cNvSpPr>
          <p:nvPr/>
        </p:nvSpPr>
        <p:spPr>
          <a:xfrm>
            <a:off x="982454" y="568960"/>
            <a:ext cx="10853946" cy="1091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1-2: </a:t>
            </a:r>
            <a:r>
              <a:rPr lang="zh-TW" altLang="en-US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匯入</a:t>
            </a:r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40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cer</a:t>
            </a:r>
            <a:endParaRPr lang="zh-TW" altLang="en-US" sz="40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E329D9-2925-CCBA-BB07-5002EDC1FDA6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144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E7236FA-7D8F-E853-62DD-B56B95058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35" y="2790176"/>
            <a:ext cx="3472723" cy="34074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5BC3EB7-27BC-2497-9087-2E1EAF003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682" y="1696613"/>
            <a:ext cx="4050509" cy="31563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標題 1">
            <a:extLst>
              <a:ext uri="{FF2B5EF4-FFF2-40B4-BE49-F238E27FC236}">
                <a16:creationId xmlns:a16="http://schemas.microsoft.com/office/drawing/2014/main" id="{E250C06E-BD2F-4365-7028-D61B31C0F1A3}"/>
              </a:ext>
            </a:extLst>
          </p:cNvPr>
          <p:cNvSpPr txBox="1">
            <a:spLocks/>
          </p:cNvSpPr>
          <p:nvPr/>
        </p:nvSpPr>
        <p:spPr>
          <a:xfrm>
            <a:off x="8134350" y="62"/>
            <a:ext cx="4057650" cy="365125"/>
          </a:xfrm>
          <a:prstGeom prst="rect">
            <a:avLst/>
          </a:prstGeom>
          <a:solidFill>
            <a:srgbClr val="3144CD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以匯入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SSL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類憑證</a:t>
            </a:r>
            <a:r>
              <a:rPr lang="en-US" altLang="zh-TW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2400" b="1" dirty="0" err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cer</a:t>
            </a:r>
            <a:r>
              <a:rPr lang="zh-TW" altLang="en-US" sz="2400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為例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0C0276-4633-8A11-CB8E-A2580328B9BC}"/>
              </a:ext>
            </a:extLst>
          </p:cNvPr>
          <p:cNvSpPr/>
          <p:nvPr/>
        </p:nvSpPr>
        <p:spPr>
          <a:xfrm>
            <a:off x="1498600" y="4583338"/>
            <a:ext cx="2180167" cy="269615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220A0CB-6A1E-8E26-C565-749FD76B0241}"/>
              </a:ext>
            </a:extLst>
          </p:cNvPr>
          <p:cNvSpPr txBox="1"/>
          <p:nvPr/>
        </p:nvSpPr>
        <p:spPr>
          <a:xfrm>
            <a:off x="915757" y="4463408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405B0183-7B07-BA65-80C0-427E80CF2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005" y="2436583"/>
            <a:ext cx="3754860" cy="29228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7A7E8B9B-A713-1DB6-DD4D-6D5275109119}"/>
              </a:ext>
            </a:extLst>
          </p:cNvPr>
          <p:cNvSpPr/>
          <p:nvPr/>
        </p:nvSpPr>
        <p:spPr>
          <a:xfrm>
            <a:off x="6818849" y="3797301"/>
            <a:ext cx="406734" cy="269584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E6B7669-3C0B-ADD2-BD5C-F8C48DF37836}"/>
              </a:ext>
            </a:extLst>
          </p:cNvPr>
          <p:cNvSpPr/>
          <p:nvPr/>
        </p:nvSpPr>
        <p:spPr>
          <a:xfrm>
            <a:off x="6931051" y="4258937"/>
            <a:ext cx="667782" cy="401963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ACDCF54-DEF9-DF51-3C1C-39B61EE24081}"/>
              </a:ext>
            </a:extLst>
          </p:cNvPr>
          <p:cNvSpPr txBox="1"/>
          <p:nvPr/>
        </p:nvSpPr>
        <p:spPr>
          <a:xfrm>
            <a:off x="6305936" y="4120663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04212B6-6FFF-CD53-39CF-2E58691CEEA8}"/>
              </a:ext>
            </a:extLst>
          </p:cNvPr>
          <p:cNvSpPr txBox="1"/>
          <p:nvPr/>
        </p:nvSpPr>
        <p:spPr>
          <a:xfrm>
            <a:off x="8305791" y="4488823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3.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4625E48-099E-7436-B871-4222650B834B}"/>
              </a:ext>
            </a:extLst>
          </p:cNvPr>
          <p:cNvSpPr txBox="1"/>
          <p:nvPr/>
        </p:nvSpPr>
        <p:spPr>
          <a:xfrm>
            <a:off x="8833613" y="4488823"/>
            <a:ext cx="1803695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設定憑證別名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87EA698-4878-8207-8BF6-58BA66426996}"/>
              </a:ext>
            </a:extLst>
          </p:cNvPr>
          <p:cNvSpPr txBox="1"/>
          <p:nvPr/>
        </p:nvSpPr>
        <p:spPr>
          <a:xfrm>
            <a:off x="8305791" y="5639576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4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21CB329-9941-F53B-41F4-354DD4162337}"/>
              </a:ext>
            </a:extLst>
          </p:cNvPr>
          <p:cNvSpPr txBox="1"/>
          <p:nvPr/>
        </p:nvSpPr>
        <p:spPr>
          <a:xfrm>
            <a:off x="8833613" y="5639576"/>
            <a:ext cx="1803695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en-US" altLang="zh-TW" dirty="0"/>
              <a:t>#</a:t>
            </a:r>
            <a:r>
              <a:rPr lang="zh-TW" altLang="en-US" dirty="0"/>
              <a:t>匯入完成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24FBE9E-BE8D-B4A8-EC2C-E65E4417E163}"/>
              </a:ext>
            </a:extLst>
          </p:cNvPr>
          <p:cNvSpPr txBox="1"/>
          <p:nvPr/>
        </p:nvSpPr>
        <p:spPr>
          <a:xfrm>
            <a:off x="915757" y="3678527"/>
            <a:ext cx="1803695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r>
              <a:rPr lang="zh-TW" altLang="en-US" dirty="0"/>
              <a:t>空白處滑鼠右鍵</a:t>
            </a:r>
          </a:p>
        </p:txBody>
      </p:sp>
    </p:spTree>
    <p:extLst>
      <p:ext uri="{BB962C8B-B14F-4D97-AF65-F5344CB8AC3E}">
        <p14:creationId xmlns:p14="http://schemas.microsoft.com/office/powerpoint/2010/main" val="646844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圖片 41">
            <a:extLst>
              <a:ext uri="{FF2B5EF4-FFF2-40B4-BE49-F238E27FC236}">
                <a16:creationId xmlns:a16="http://schemas.microsoft.com/office/drawing/2014/main" id="{139DC951-97E6-664F-3D87-0F231C63C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236" y="1802315"/>
            <a:ext cx="5148108" cy="40113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AA488C5D-1510-D87C-12FD-500297CBC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802316"/>
            <a:ext cx="5104758" cy="40113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B35C72-0B21-2ED4-0A18-8F82BDBA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05C01EF4-178A-DF28-AA72-8DEC3D565964}"/>
              </a:ext>
            </a:extLst>
          </p:cNvPr>
          <p:cNvSpPr txBox="1">
            <a:spLocks/>
          </p:cNvSpPr>
          <p:nvPr/>
        </p:nvSpPr>
        <p:spPr>
          <a:xfrm>
            <a:off x="982454" y="568960"/>
            <a:ext cx="10853946" cy="1091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2: </a:t>
            </a:r>
            <a:r>
              <a:rPr lang="zh-TW" altLang="en-US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匯入專屬類憑證</a:t>
            </a:r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40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cer</a:t>
            </a:r>
            <a:r>
              <a:rPr lang="zh-TW" altLang="en-US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後儲存合併後的</a:t>
            </a:r>
            <a:r>
              <a:rPr lang="en-US" altLang="zh-TW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40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r>
              <a:rPr lang="zh-TW" altLang="en-US" sz="4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檔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E329D9-2925-CCBA-BB07-5002EDC1FDA6}"/>
              </a:ext>
            </a:extLst>
          </p:cNvPr>
          <p:cNvSpPr/>
          <p:nvPr/>
        </p:nvSpPr>
        <p:spPr>
          <a:xfrm>
            <a:off x="670560" y="660400"/>
            <a:ext cx="167640" cy="833120"/>
          </a:xfrm>
          <a:prstGeom prst="rect">
            <a:avLst/>
          </a:prstGeom>
          <a:solidFill>
            <a:srgbClr val="3144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25C9DE-6632-BB48-F4A5-0EAF50C63E69}"/>
              </a:ext>
            </a:extLst>
          </p:cNvPr>
          <p:cNvSpPr/>
          <p:nvPr/>
        </p:nvSpPr>
        <p:spPr>
          <a:xfrm>
            <a:off x="1484683" y="2942397"/>
            <a:ext cx="1114137" cy="486603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0CE45AB-D985-32D8-6E70-1C81CE4650DE}"/>
              </a:ext>
            </a:extLst>
          </p:cNvPr>
          <p:cNvGrpSpPr/>
          <p:nvPr/>
        </p:nvGrpSpPr>
        <p:grpSpPr>
          <a:xfrm>
            <a:off x="496052" y="1764134"/>
            <a:ext cx="4335830" cy="794007"/>
            <a:chOff x="2424538" y="1544835"/>
            <a:chExt cx="4201076" cy="794007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C3B1F978-2B86-3FC2-19C0-22A3FF420237}"/>
                </a:ext>
              </a:extLst>
            </p:cNvPr>
            <p:cNvSpPr txBox="1"/>
            <p:nvPr/>
          </p:nvSpPr>
          <p:spPr>
            <a:xfrm>
              <a:off x="2424538" y="1546552"/>
              <a:ext cx="375702" cy="396506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TW" b="1" dirty="0">
                  <a:solidFill>
                    <a:schemeClr val="bg1"/>
                  </a:solidFill>
                  <a:latin typeface="Arial Narrow" panose="020B0606020202030204" pitchFamily="34" charset="0"/>
                  <a:ea typeface="微軟正黑體" panose="020B0604030504040204" pitchFamily="34" charset="-120"/>
                </a:rPr>
                <a:t>1.</a:t>
              </a:r>
              <a:endParaRPr lang="zh-TW" altLang="en-US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D8CB93E8-E377-D529-6577-95E3E7CE9CEB}"/>
                </a:ext>
              </a:extLst>
            </p:cNvPr>
            <p:cNvSpPr txBox="1"/>
            <p:nvPr/>
          </p:nvSpPr>
          <p:spPr>
            <a:xfrm>
              <a:off x="3071022" y="1544835"/>
              <a:ext cx="3554592" cy="794007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ctr">
                <a:defRPr b="1">
                  <a:solidFill>
                    <a:schemeClr val="bg1"/>
                  </a:solidFill>
                  <a:latin typeface="Arial Narrow" panose="020B0606020202030204" pitchFamily="34" charset="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spcBef>
                  <a:spcPts val="300"/>
                </a:spcBef>
              </a:pPr>
              <a:r>
                <a:rPr lang="en-US" altLang="zh-TW" dirty="0"/>
                <a:t>#</a:t>
              </a:r>
              <a:r>
                <a:rPr lang="zh-TW" altLang="en-US" dirty="0"/>
                <a:t>按照</a:t>
              </a:r>
              <a:r>
                <a:rPr lang="en-US" altLang="zh-TW" dirty="0"/>
                <a:t>step1-2</a:t>
              </a:r>
              <a:r>
                <a:rPr lang="zh-TW" altLang="en-US" dirty="0"/>
                <a:t>同樣步驟，將專屬類憑證</a:t>
              </a:r>
              <a:r>
                <a:rPr lang="en-US" altLang="zh-TW" dirty="0"/>
                <a:t>.</a:t>
              </a:r>
              <a:r>
                <a:rPr lang="en-US" altLang="zh-TW" dirty="0" err="1"/>
                <a:t>cer</a:t>
              </a:r>
              <a:r>
                <a:rPr lang="zh-TW" altLang="en-US" dirty="0"/>
                <a:t>匯入完成</a:t>
              </a:r>
            </a:p>
          </p:txBody>
        </p:sp>
      </p:grp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3A2BE683-122A-78CA-EB75-9F846945793C}"/>
              </a:ext>
            </a:extLst>
          </p:cNvPr>
          <p:cNvCxnSpPr>
            <a:cxnSpLocks/>
            <a:stCxn id="10" idx="2"/>
            <a:endCxn id="8" idx="3"/>
          </p:cNvCxnSpPr>
          <p:nvPr/>
        </p:nvCxnSpPr>
        <p:spPr>
          <a:xfrm flipH="1">
            <a:off x="2598820" y="2558141"/>
            <a:ext cx="398758" cy="627558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29C905F-B285-5085-AE1B-D59455F1922E}"/>
              </a:ext>
            </a:extLst>
          </p:cNvPr>
          <p:cNvSpPr/>
          <p:nvPr/>
        </p:nvSpPr>
        <p:spPr>
          <a:xfrm>
            <a:off x="2857959" y="3830854"/>
            <a:ext cx="828518" cy="798897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DCA7897B-564B-16EF-47BF-06552B8B2B2D}"/>
              </a:ext>
            </a:extLst>
          </p:cNvPr>
          <p:cNvGrpSpPr/>
          <p:nvPr/>
        </p:nvGrpSpPr>
        <p:grpSpPr>
          <a:xfrm>
            <a:off x="496052" y="5243975"/>
            <a:ext cx="4335830" cy="1045065"/>
            <a:chOff x="2424538" y="1544835"/>
            <a:chExt cx="4335830" cy="1045065"/>
          </a:xfrm>
        </p:grpSpPr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D2C02565-2CFA-5697-7E59-732188AB2EA3}"/>
                </a:ext>
              </a:extLst>
            </p:cNvPr>
            <p:cNvSpPr txBox="1"/>
            <p:nvPr/>
          </p:nvSpPr>
          <p:spPr>
            <a:xfrm>
              <a:off x="2424538" y="1546552"/>
              <a:ext cx="375702" cy="396506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TW" b="1" dirty="0">
                  <a:solidFill>
                    <a:schemeClr val="bg1"/>
                  </a:solidFill>
                  <a:latin typeface="Arial Narrow" panose="020B0606020202030204" pitchFamily="34" charset="0"/>
                  <a:ea typeface="微軟正黑體" panose="020B0604030504040204" pitchFamily="34" charset="-120"/>
                </a:rPr>
                <a:t>2.</a:t>
              </a:r>
              <a:endParaRPr lang="zh-TW" altLang="en-US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364F8683-FC37-345D-8AB6-C5DBD2B73EC5}"/>
                </a:ext>
              </a:extLst>
            </p:cNvPr>
            <p:cNvSpPr txBox="1"/>
            <p:nvPr/>
          </p:nvSpPr>
          <p:spPr>
            <a:xfrm>
              <a:off x="3071022" y="1544835"/>
              <a:ext cx="3689346" cy="1045065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zh-TW"/>
              </a:defPPr>
              <a:lvl1pPr algn="ctr">
                <a:defRPr b="1">
                  <a:solidFill>
                    <a:schemeClr val="bg1"/>
                  </a:solidFill>
                  <a:latin typeface="Arial Narrow" panose="020B0606020202030204" pitchFamily="34" charset="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spcBef>
                  <a:spcPts val="300"/>
                </a:spcBef>
              </a:pPr>
              <a:r>
                <a:rPr lang="en-US" altLang="zh-TW" dirty="0"/>
                <a:t>#</a:t>
              </a:r>
              <a:r>
                <a:rPr lang="zh-TW" altLang="en-US" dirty="0"/>
                <a:t>鍵盤快捷鍵</a:t>
              </a:r>
              <a:r>
                <a:rPr lang="en-US" altLang="zh-TW" dirty="0"/>
                <a:t>: </a:t>
              </a:r>
              <a:r>
                <a:rPr lang="en-US" altLang="zh-TW" dirty="0" err="1"/>
                <a:t>Ctrl+S</a:t>
              </a:r>
              <a:r>
                <a:rPr lang="zh-TW" altLang="en-US" dirty="0"/>
                <a:t>，儲存</a:t>
              </a:r>
              <a:r>
                <a:rPr lang="en-US" altLang="zh-TW" dirty="0"/>
                <a:t>.</a:t>
              </a:r>
              <a:r>
                <a:rPr lang="en-US" altLang="zh-TW" dirty="0" err="1"/>
                <a:t>jks</a:t>
              </a:r>
              <a:endParaRPr lang="en-US" altLang="zh-TW" dirty="0"/>
            </a:p>
            <a:p>
              <a:pPr algn="l">
                <a:spcBef>
                  <a:spcPts val="300"/>
                </a:spcBef>
              </a:pPr>
              <a:r>
                <a:rPr lang="en-US" altLang="zh-TW" dirty="0"/>
                <a:t>#</a:t>
              </a:r>
              <a:r>
                <a:rPr lang="zh-TW" altLang="en-US" dirty="0"/>
                <a:t>密碼固定用：</a:t>
              </a:r>
              <a:r>
                <a:rPr lang="en-US" altLang="zh-TW" dirty="0"/>
                <a:t>egovsit4</a:t>
              </a:r>
              <a:r>
                <a:rPr lang="zh-TW" altLang="en-US" dirty="0"/>
                <a:t>，程式解密目前固定辨認這組</a:t>
              </a:r>
            </a:p>
          </p:txBody>
        </p:sp>
      </p:grp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FC80720A-6AEA-1448-AB91-E67EE23B846B}"/>
              </a:ext>
            </a:extLst>
          </p:cNvPr>
          <p:cNvCxnSpPr>
            <a:cxnSpLocks/>
            <a:stCxn id="36" idx="0"/>
            <a:endCxn id="33" idx="2"/>
          </p:cNvCxnSpPr>
          <p:nvPr/>
        </p:nvCxnSpPr>
        <p:spPr>
          <a:xfrm flipV="1">
            <a:off x="2987209" y="4629751"/>
            <a:ext cx="285009" cy="614224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6565359C-E25C-3F11-3B0C-F43A44C84948}"/>
              </a:ext>
            </a:extLst>
          </p:cNvPr>
          <p:cNvSpPr/>
          <p:nvPr/>
        </p:nvSpPr>
        <p:spPr>
          <a:xfrm>
            <a:off x="7263448" y="4753983"/>
            <a:ext cx="4027895" cy="655415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F61B0B28-F71A-2B26-D372-5047D902652D}"/>
              </a:ext>
            </a:extLst>
          </p:cNvPr>
          <p:cNvGrpSpPr/>
          <p:nvPr/>
        </p:nvGrpSpPr>
        <p:grpSpPr>
          <a:xfrm>
            <a:off x="7161506" y="1795661"/>
            <a:ext cx="4231777" cy="791064"/>
            <a:chOff x="2424538" y="1544836"/>
            <a:chExt cx="4231777" cy="791064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558334C1-5891-D42A-5E67-56E85FD0806D}"/>
                </a:ext>
              </a:extLst>
            </p:cNvPr>
            <p:cNvSpPr txBox="1"/>
            <p:nvPr/>
          </p:nvSpPr>
          <p:spPr>
            <a:xfrm>
              <a:off x="2424538" y="1546552"/>
              <a:ext cx="375702" cy="396506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TW" b="1" dirty="0">
                  <a:solidFill>
                    <a:schemeClr val="bg1"/>
                  </a:solidFill>
                  <a:latin typeface="Arial Narrow" panose="020B0606020202030204" pitchFamily="34" charset="0"/>
                  <a:ea typeface="微軟正黑體" panose="020B0604030504040204" pitchFamily="34" charset="-120"/>
                </a:rPr>
                <a:t>3.</a:t>
              </a:r>
              <a:endParaRPr lang="zh-TW" altLang="en-US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2522581E-0CFE-A6F4-F8E6-B6E2CBADD3A4}"/>
                </a:ext>
              </a:extLst>
            </p:cNvPr>
            <p:cNvSpPr txBox="1"/>
            <p:nvPr/>
          </p:nvSpPr>
          <p:spPr>
            <a:xfrm>
              <a:off x="3071022" y="1544836"/>
              <a:ext cx="3585293" cy="791064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algn="ctr">
                <a:defRPr b="1">
                  <a:solidFill>
                    <a:schemeClr val="bg1"/>
                  </a:solidFill>
                  <a:latin typeface="Arial Narrow" panose="020B0606020202030204" pitchFamily="34" charset="0"/>
                  <a:ea typeface="微軟正黑體" panose="020B0604030504040204" pitchFamily="34" charset="-12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spcBef>
                  <a:spcPts val="300"/>
                </a:spcBef>
              </a:pPr>
              <a:r>
                <a:rPr lang="en-US" altLang="zh-TW" dirty="0"/>
                <a:t>#</a:t>
              </a:r>
              <a:r>
                <a:rPr lang="zh-TW" altLang="en-US" dirty="0"/>
                <a:t>檔名固定用：</a:t>
              </a:r>
              <a:r>
                <a:rPr lang="en-US" altLang="zh-TW" dirty="0" err="1"/>
                <a:t>truststore_ssl.jks</a:t>
              </a:r>
              <a:r>
                <a:rPr lang="zh-TW" altLang="en-US" dirty="0"/>
                <a:t>，程式目前固定辨認這組</a:t>
              </a:r>
            </a:p>
          </p:txBody>
        </p:sp>
      </p:grp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8E1F77E3-3A58-7AEE-EF9A-6B5A97479A41}"/>
              </a:ext>
            </a:extLst>
          </p:cNvPr>
          <p:cNvCxnSpPr>
            <a:cxnSpLocks/>
            <a:stCxn id="57" idx="2"/>
            <a:endCxn id="54" idx="0"/>
          </p:cNvCxnSpPr>
          <p:nvPr/>
        </p:nvCxnSpPr>
        <p:spPr>
          <a:xfrm flipH="1">
            <a:off x="9277396" y="2586725"/>
            <a:ext cx="323241" cy="2167258"/>
          </a:xfrm>
          <a:prstGeom prst="line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65A2E867-FA8B-F14B-F2FE-9E08165E3589}"/>
              </a:ext>
            </a:extLst>
          </p:cNvPr>
          <p:cNvSpPr/>
          <p:nvPr/>
        </p:nvSpPr>
        <p:spPr>
          <a:xfrm>
            <a:off x="7263449" y="4753983"/>
            <a:ext cx="4027895" cy="655415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289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2114501E-C5A4-0088-5536-18D9EEEAD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623" y="2616601"/>
            <a:ext cx="5768536" cy="3139028"/>
          </a:xfrm>
          <a:prstGeom prst="rect">
            <a:avLst/>
          </a:prstGeom>
          <a:ln>
            <a:solidFill>
              <a:srgbClr val="767171"/>
            </a:solidFill>
          </a:ln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2271B6-131C-E5E9-6C85-77A829D3E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10" y="1707357"/>
            <a:ext cx="6389570" cy="28756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TW" altLang="en-US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兩個</a:t>
            </a:r>
            <a:r>
              <a:rPr lang="en-US" altLang="zh-TW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24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r>
              <a:rPr lang="zh-TW" altLang="en-US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係指</a:t>
            </a:r>
            <a:endParaRPr lang="en-US" altLang="zh-TW" sz="24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製作金鑰庫完成</a:t>
            </a:r>
            <a:r>
              <a:rPr lang="en-US" altLang="zh-TW" sz="2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Step7-5</a:t>
            </a:r>
            <a:r>
              <a:rPr lang="zh-TW" altLang="en-US" sz="2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後，取得一個</a:t>
            </a:r>
            <a:r>
              <a:rPr lang="en-US" altLang="zh-TW" sz="2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20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endParaRPr lang="en-US" altLang="zh-TW" sz="20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製作信任庫完成</a:t>
            </a:r>
            <a:r>
              <a:rPr lang="en-US" altLang="zh-TW" sz="2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Step2</a:t>
            </a:r>
            <a:r>
              <a:rPr lang="zh-TW" altLang="en-US" sz="2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後，取得一個</a:t>
            </a:r>
            <a:r>
              <a:rPr lang="en-US" altLang="zh-TW" sz="2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20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endParaRPr lang="en-US" altLang="zh-TW" sz="20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TW" altLang="en-US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使用第三方檔案傳輸工具軟體（如</a:t>
            </a:r>
            <a:r>
              <a:rPr lang="en-US" altLang="zh-TW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FileZilla</a:t>
            </a:r>
            <a:r>
              <a:rPr lang="zh-TW" altLang="en-US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）</a:t>
            </a:r>
            <a:br>
              <a:rPr lang="en-US" altLang="zh-TW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下載網址：</a:t>
            </a:r>
            <a:r>
              <a:rPr lang="en-US" altLang="zh-TW" sz="2000" dirty="0">
                <a:latin typeface="Arial Narrow" panose="020B0606020202030204" pitchFamily="34" charset="0"/>
                <a:ea typeface="微軟正黑體" panose="020B0604030504040204" pitchFamily="34" charset="-120"/>
                <a:hlinkClick r:id="rId3"/>
              </a:rPr>
              <a:t>https://filezilla-project.org/</a:t>
            </a:r>
            <a:endParaRPr lang="en-US" altLang="zh-TW" sz="20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TW" altLang="en-US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將兩個</a:t>
            </a:r>
            <a:r>
              <a:rPr lang="en-US" altLang="zh-TW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sz="24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r>
              <a:rPr lang="zh-TW" altLang="en-US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放至安控伺服器指定路徑：</a:t>
            </a:r>
            <a:r>
              <a:rPr lang="en-US" altLang="zh-TW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/home/</a:t>
            </a:r>
            <a:r>
              <a:rPr lang="en-US" altLang="zh-TW" sz="24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Troad</a:t>
            </a:r>
            <a:r>
              <a:rPr lang="en-US" altLang="zh-TW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/keystore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A4C871-EC28-4829-D731-C47FA1238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>
                <a:latin typeface="Arial Narrow" panose="020B0606020202030204" pitchFamily="34" charset="0"/>
              </a:rPr>
              <a:pPr/>
              <a:t>23</a:t>
            </a:fld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A30CC184-3F24-D55E-5E46-DCE5148242B7}"/>
              </a:ext>
            </a:extLst>
          </p:cNvPr>
          <p:cNvSpPr txBox="1">
            <a:spLocks/>
          </p:cNvSpPr>
          <p:nvPr/>
        </p:nvSpPr>
        <p:spPr>
          <a:xfrm>
            <a:off x="1078029" y="568960"/>
            <a:ext cx="10304646" cy="109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將製作完成的兩個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.</a:t>
            </a:r>
            <a:r>
              <a:rPr lang="en-US" altLang="zh-TW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上傳至安控伺服器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EACFC4-239A-91C5-D070-16DDB7A96140}"/>
              </a:ext>
            </a:extLst>
          </p:cNvPr>
          <p:cNvSpPr/>
          <p:nvPr/>
        </p:nvSpPr>
        <p:spPr>
          <a:xfrm>
            <a:off x="651310" y="669149"/>
            <a:ext cx="167640" cy="83312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490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AD5A23-2027-7BEF-723B-43F5332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07E374-89E6-27F8-F175-843CA483132E}"/>
              </a:ext>
            </a:extLst>
          </p:cNvPr>
          <p:cNvSpPr/>
          <p:nvPr/>
        </p:nvSpPr>
        <p:spPr>
          <a:xfrm>
            <a:off x="651310" y="669149"/>
            <a:ext cx="167640" cy="833120"/>
          </a:xfrm>
          <a:prstGeom prst="rect">
            <a:avLst/>
          </a:prstGeom>
          <a:solidFill>
            <a:srgbClr val="BB2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B2B3A27-8D2E-7431-8F46-D48DBE1D9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10" y="1707357"/>
            <a:ext cx="11026340" cy="10912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TW" altLang="en-US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前往</a:t>
            </a:r>
            <a:r>
              <a:rPr lang="en-US" altLang="zh-TW" sz="2400" dirty="0" err="1">
                <a:latin typeface="Arial Narrow" panose="020B0606020202030204" pitchFamily="34" charset="0"/>
                <a:ea typeface="微軟正黑體" panose="020B0604030504040204" pitchFamily="34" charset="-120"/>
              </a:rPr>
              <a:t>Jasypt</a:t>
            </a:r>
            <a:r>
              <a:rPr lang="zh-TW" altLang="en-US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加解密網站</a:t>
            </a:r>
            <a:br>
              <a:rPr lang="en-US" altLang="zh-TW" sz="2400" dirty="0">
                <a:latin typeface="Arial Narrow" panose="020B0606020202030204" pitchFamily="34" charset="0"/>
                <a:ea typeface="微軟正黑體" panose="020B0604030504040204" pitchFamily="34" charset="-120"/>
              </a:rPr>
            </a:br>
            <a:r>
              <a:rPr lang="en-US" altLang="zh-TW" sz="2400" dirty="0">
                <a:latin typeface="Arial Narrow" panose="020B0606020202030204" pitchFamily="34" charset="0"/>
                <a:ea typeface="微軟正黑體" panose="020B0604030504040204" pitchFamily="34" charset="-120"/>
                <a:hlinkClick r:id="rId2"/>
              </a:rPr>
              <a:t>https://www.devglan.com/online-tools/jasypt-online-encryption-decryption</a:t>
            </a:r>
            <a:endParaRPr lang="en-US" altLang="zh-TW" sz="24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8C382A75-CA14-3034-1496-C1AC91D6B19E}"/>
              </a:ext>
            </a:extLst>
          </p:cNvPr>
          <p:cNvSpPr txBox="1">
            <a:spLocks/>
          </p:cNvSpPr>
          <p:nvPr/>
        </p:nvSpPr>
        <p:spPr>
          <a:xfrm>
            <a:off x="1078029" y="568960"/>
            <a:ext cx="10304646" cy="109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針對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JKS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密碼及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PEM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密碼，執行</a:t>
            </a:r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Secret Key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加密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749942D-45BC-5BF2-7481-3C426FCE3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48" y="2798605"/>
            <a:ext cx="5573078" cy="3385547"/>
          </a:xfrm>
          <a:prstGeom prst="rect">
            <a:avLst/>
          </a:prstGeom>
          <a:noFill/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82BEAD0-8F0D-7489-9016-480AFF51491A}"/>
              </a:ext>
            </a:extLst>
          </p:cNvPr>
          <p:cNvSpPr txBox="1">
            <a:spLocks/>
          </p:cNvSpPr>
          <p:nvPr/>
        </p:nvSpPr>
        <p:spPr>
          <a:xfrm>
            <a:off x="6524626" y="5815059"/>
            <a:ext cx="3904397" cy="3690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TW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#</a:t>
            </a:r>
            <a:r>
              <a:rPr lang="zh-TW" altLang="en-US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網站功能截圖</a:t>
            </a:r>
            <a:endParaRPr lang="en-US" altLang="zh-TW" sz="18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59297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AD5A23-2027-7BEF-723B-43F5332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77827-5486-43CF-89E0-768AD914934F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07E374-89E6-27F8-F175-843CA483132E}"/>
              </a:ext>
            </a:extLst>
          </p:cNvPr>
          <p:cNvSpPr/>
          <p:nvPr/>
        </p:nvSpPr>
        <p:spPr>
          <a:xfrm>
            <a:off x="651310" y="669149"/>
            <a:ext cx="167640" cy="833120"/>
          </a:xfrm>
          <a:prstGeom prst="rect">
            <a:avLst/>
          </a:prstGeom>
          <a:solidFill>
            <a:srgbClr val="BB2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8C382A75-CA14-3034-1496-C1AC91D6B19E}"/>
              </a:ext>
            </a:extLst>
          </p:cNvPr>
          <p:cNvSpPr txBox="1">
            <a:spLocks/>
          </p:cNvSpPr>
          <p:nvPr/>
        </p:nvSpPr>
        <p:spPr>
          <a:xfrm>
            <a:off x="1078029" y="568960"/>
            <a:ext cx="7048909" cy="109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Arial Narrow" panose="020B0606020202030204" pitchFamily="34" charset="0"/>
                <a:ea typeface="微軟正黑體" panose="020B0604030504040204" pitchFamily="34" charset="-120"/>
              </a:rPr>
              <a:t>Step 1: </a:t>
            </a:r>
            <a:r>
              <a:rPr lang="zh-TW" altLang="en-US" dirty="0">
                <a:latin typeface="Arial Narrow" panose="020B0606020202030204" pitchFamily="34" charset="0"/>
                <a:ea typeface="微軟正黑體" panose="020B0604030504040204" pitchFamily="34" charset="-120"/>
              </a:rPr>
              <a:t>手動產生加密後密碼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A53CF4D-C977-D2F3-7B70-37AEA378F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10" y="1853361"/>
            <a:ext cx="7216549" cy="4383927"/>
          </a:xfrm>
          <a:prstGeom prst="rect">
            <a:avLst/>
          </a:prstGeom>
          <a:noFill/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B66BEC7-0C1A-481D-8C1B-79A6CCA1A601}"/>
              </a:ext>
            </a:extLst>
          </p:cNvPr>
          <p:cNvSpPr/>
          <p:nvPr/>
        </p:nvSpPr>
        <p:spPr>
          <a:xfrm>
            <a:off x="646652" y="2929173"/>
            <a:ext cx="3644465" cy="393753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EAEC12C-18E0-55CA-C2FD-AC954745B1CB}"/>
              </a:ext>
            </a:extLst>
          </p:cNvPr>
          <p:cNvSpPr txBox="1"/>
          <p:nvPr/>
        </p:nvSpPr>
        <p:spPr>
          <a:xfrm>
            <a:off x="130173" y="2929173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1.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A338448-C732-EDB2-A637-8E68C96EF683}"/>
              </a:ext>
            </a:extLst>
          </p:cNvPr>
          <p:cNvSpPr txBox="1"/>
          <p:nvPr/>
        </p:nvSpPr>
        <p:spPr>
          <a:xfrm>
            <a:off x="2548309" y="2426144"/>
            <a:ext cx="1604592" cy="32400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spcBef>
                <a:spcPts val="300"/>
              </a:spcBef>
            </a:pPr>
            <a:r>
              <a:rPr lang="zh-TW" altLang="en-US" dirty="0"/>
              <a:t>輸入原始密碼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99C098F-27DD-2360-C132-49FB39A0CA5C}"/>
              </a:ext>
            </a:extLst>
          </p:cNvPr>
          <p:cNvSpPr/>
          <p:nvPr/>
        </p:nvSpPr>
        <p:spPr>
          <a:xfrm>
            <a:off x="646652" y="3706454"/>
            <a:ext cx="3644465" cy="438587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444374B-E682-987D-7E62-784323ED09C7}"/>
              </a:ext>
            </a:extLst>
          </p:cNvPr>
          <p:cNvSpPr txBox="1"/>
          <p:nvPr/>
        </p:nvSpPr>
        <p:spPr>
          <a:xfrm>
            <a:off x="130173" y="3727494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CE43FA0-BE0D-6682-21EC-A46F3982AF23}"/>
              </a:ext>
            </a:extLst>
          </p:cNvPr>
          <p:cNvSpPr txBox="1"/>
          <p:nvPr/>
        </p:nvSpPr>
        <p:spPr>
          <a:xfrm>
            <a:off x="2597843" y="3448082"/>
            <a:ext cx="1604592" cy="32400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spcBef>
                <a:spcPts val="300"/>
              </a:spcBef>
            </a:pPr>
            <a:r>
              <a:rPr lang="zh-TW" altLang="en-US" dirty="0"/>
              <a:t>選擇</a:t>
            </a:r>
            <a:r>
              <a:rPr lang="en-US" altLang="zh-TW" dirty="0"/>
              <a:t>Two Way</a:t>
            </a:r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02F143-A81A-7A55-775B-2A695B5BF99E}"/>
              </a:ext>
            </a:extLst>
          </p:cNvPr>
          <p:cNvSpPr/>
          <p:nvPr/>
        </p:nvSpPr>
        <p:spPr>
          <a:xfrm>
            <a:off x="646652" y="4496176"/>
            <a:ext cx="3644465" cy="438586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DF53EF3-15FE-7462-4C96-E48D7D0FC59A}"/>
              </a:ext>
            </a:extLst>
          </p:cNvPr>
          <p:cNvSpPr txBox="1"/>
          <p:nvPr/>
        </p:nvSpPr>
        <p:spPr>
          <a:xfrm>
            <a:off x="130173" y="4517216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3.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BF58A75-7BC3-EACF-4492-E29D50CDB26A}"/>
              </a:ext>
            </a:extLst>
          </p:cNvPr>
          <p:cNvSpPr txBox="1"/>
          <p:nvPr/>
        </p:nvSpPr>
        <p:spPr>
          <a:xfrm>
            <a:off x="2468883" y="4553469"/>
            <a:ext cx="2876550" cy="32400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spcBef>
                <a:spcPts val="300"/>
              </a:spcBef>
            </a:pPr>
            <a:r>
              <a:rPr lang="zh-TW" altLang="en-US" dirty="0"/>
              <a:t>輸入要使用的</a:t>
            </a:r>
            <a:r>
              <a:rPr lang="en-US" altLang="zh-TW" dirty="0"/>
              <a:t>Secret Key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C0D4B20-DEB0-0B5A-5D3C-4B49F59040C7}"/>
              </a:ext>
            </a:extLst>
          </p:cNvPr>
          <p:cNvSpPr txBox="1"/>
          <p:nvPr/>
        </p:nvSpPr>
        <p:spPr>
          <a:xfrm flipH="1">
            <a:off x="1683399" y="5004773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4.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59256BF-AAD8-D8C2-D968-D01C22425C98}"/>
              </a:ext>
            </a:extLst>
          </p:cNvPr>
          <p:cNvSpPr txBox="1"/>
          <p:nvPr/>
        </p:nvSpPr>
        <p:spPr>
          <a:xfrm>
            <a:off x="2165784" y="5002624"/>
            <a:ext cx="2093800" cy="396505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spcBef>
                <a:spcPts val="300"/>
              </a:spcBef>
            </a:pPr>
            <a:r>
              <a:rPr lang="zh-TW" altLang="en-US" dirty="0"/>
              <a:t>點擊按鈕執行加密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A066CD-1A17-5E58-65C7-5F51047F7629}"/>
              </a:ext>
            </a:extLst>
          </p:cNvPr>
          <p:cNvSpPr/>
          <p:nvPr/>
        </p:nvSpPr>
        <p:spPr>
          <a:xfrm>
            <a:off x="646651" y="5803741"/>
            <a:ext cx="3644465" cy="438586"/>
          </a:xfrm>
          <a:prstGeom prst="rect">
            <a:avLst/>
          </a:prstGeom>
          <a:solidFill>
            <a:srgbClr val="FFFFFF">
              <a:alpha val="5098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Arial Narrow" panose="020B0606020202030204" pitchFamily="34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97CAD79-AC8D-B419-36D6-B0752C771535}"/>
              </a:ext>
            </a:extLst>
          </p:cNvPr>
          <p:cNvSpPr txBox="1"/>
          <p:nvPr/>
        </p:nvSpPr>
        <p:spPr>
          <a:xfrm flipH="1">
            <a:off x="1307697" y="6173023"/>
            <a:ext cx="375702" cy="396506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b="1" dirty="0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5.</a:t>
            </a:r>
            <a:endParaRPr lang="zh-TW" altLang="en-US" b="1" dirty="0">
              <a:solidFill>
                <a:schemeClr val="bg1"/>
              </a:solidFill>
              <a:latin typeface="Arial Narrow" panose="020B060602020203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50FDF81-882D-695B-E759-9EDC4D375163}"/>
              </a:ext>
            </a:extLst>
          </p:cNvPr>
          <p:cNvSpPr txBox="1"/>
          <p:nvPr/>
        </p:nvSpPr>
        <p:spPr>
          <a:xfrm>
            <a:off x="1817265" y="6173023"/>
            <a:ext cx="1966365" cy="396505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Arial Narrow" panose="020B0606020202030204" pitchFamily="34" charset="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spcBef>
                <a:spcPts val="300"/>
              </a:spcBef>
            </a:pPr>
            <a:r>
              <a:rPr lang="zh-TW" altLang="en-US" dirty="0"/>
              <a:t>取得加密後結果</a:t>
            </a:r>
          </a:p>
        </p:txBody>
      </p:sp>
      <p:sp>
        <p:nvSpPr>
          <p:cNvPr id="28" name="標題 1">
            <a:extLst>
              <a:ext uri="{FF2B5EF4-FFF2-40B4-BE49-F238E27FC236}">
                <a16:creationId xmlns:a16="http://schemas.microsoft.com/office/drawing/2014/main" id="{292B20A6-86B5-881F-3EF9-DB2ECDFFAC1A}"/>
              </a:ext>
            </a:extLst>
          </p:cNvPr>
          <p:cNvSpPr txBox="1">
            <a:spLocks/>
          </p:cNvSpPr>
          <p:nvPr/>
        </p:nvSpPr>
        <p:spPr>
          <a:xfrm>
            <a:off x="7867859" y="1881592"/>
            <a:ext cx="3943141" cy="35508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lnSpc>
                <a:spcPct val="12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TW" altLang="en-US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請將</a:t>
            </a:r>
            <a:r>
              <a:rPr lang="zh-TW" altLang="en-US" sz="1800" b="1" dirty="0">
                <a:solidFill>
                  <a:srgbClr val="3144CD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開啟</a:t>
            </a:r>
            <a:r>
              <a:rPr lang="en-US" altLang="zh-TW" sz="1800" b="1" dirty="0">
                <a:solidFill>
                  <a:srgbClr val="3144CD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keystore</a:t>
            </a:r>
            <a:r>
              <a:rPr lang="zh-TW" altLang="en-US" sz="1800" b="1" dirty="0">
                <a:solidFill>
                  <a:srgbClr val="3144CD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的密碼</a:t>
            </a:r>
            <a:r>
              <a:rPr lang="zh-TW" altLang="en-US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及</a:t>
            </a:r>
            <a:r>
              <a:rPr lang="en-US" altLang="zh-TW" sz="1800" b="1" dirty="0">
                <a:solidFill>
                  <a:srgbClr val="3144CD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2</a:t>
            </a:r>
            <a:r>
              <a:rPr lang="zh-TW" altLang="en-US" sz="1800" b="1" dirty="0">
                <a:solidFill>
                  <a:srgbClr val="3144CD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個</a:t>
            </a:r>
            <a:r>
              <a:rPr lang="en-US" altLang="zh-TW" sz="1800" b="1" dirty="0">
                <a:solidFill>
                  <a:srgbClr val="3144CD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PEM</a:t>
            </a:r>
            <a:r>
              <a:rPr lang="zh-TW" altLang="en-US" sz="1800" b="1" dirty="0">
                <a:solidFill>
                  <a:srgbClr val="3144CD"/>
                </a:solidFill>
                <a:latin typeface="Arial Narrow" panose="020B0606020202030204" pitchFamily="34" charset="0"/>
                <a:ea typeface="微軟正黑體" panose="020B0604030504040204" pitchFamily="34" charset="-120"/>
              </a:rPr>
              <a:t>檔密碼</a:t>
            </a:r>
            <a:r>
              <a:rPr lang="zh-TW" altLang="en-US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依上述步驟加密，機關所使用之</a:t>
            </a:r>
            <a:r>
              <a:rPr lang="en-US" altLang="zh-TW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Secret Key</a:t>
            </a:r>
            <a:r>
              <a:rPr lang="zh-TW" altLang="en-US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及密碼加密結果將在後續設定安控伺服器步驟時使用</a:t>
            </a:r>
            <a:endParaRPr lang="en-US" altLang="zh-TW" sz="1800" dirty="0">
              <a:latin typeface="Arial Narrow" panose="020B0606020202030204" pitchFamily="34" charset="0"/>
              <a:ea typeface="微軟正黑體" panose="020B0604030504040204" pitchFamily="34" charset="-120"/>
            </a:endParaRPr>
          </a:p>
          <a:p>
            <a:pPr marL="342900" indent="-342900" algn="just">
              <a:lnSpc>
                <a:spcPct val="12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TW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Secret Key</a:t>
            </a:r>
            <a:r>
              <a:rPr lang="zh-TW" altLang="en-US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字串可由機關自行定義，或可使用平臺端提供的預設值，預設值請洽</a:t>
            </a:r>
            <a:r>
              <a:rPr lang="en-US" altLang="zh-TW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T-Road</a:t>
            </a:r>
            <a:r>
              <a:rPr lang="zh-TW" altLang="en-US" sz="1800" dirty="0">
                <a:latin typeface="Arial Narrow" panose="020B0606020202030204" pitchFamily="34" charset="0"/>
                <a:ea typeface="微軟正黑體" panose="020B0604030504040204" pitchFamily="34" charset="-120"/>
              </a:rPr>
              <a:t>介接窗口</a:t>
            </a:r>
          </a:p>
        </p:txBody>
      </p:sp>
    </p:spTree>
    <p:extLst>
      <p:ext uri="{BB962C8B-B14F-4D97-AF65-F5344CB8AC3E}">
        <p14:creationId xmlns:p14="http://schemas.microsoft.com/office/powerpoint/2010/main" val="806693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2282</TotalTime>
  <Words>1509</Words>
  <Application>Microsoft Office PowerPoint</Application>
  <PresentationFormat>寬螢幕</PresentationFormat>
  <Paragraphs>213</Paragraphs>
  <Slides>25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Arial Rounded MT Bold</vt:lpstr>
      <vt:lpstr>微軟正黑體</vt:lpstr>
      <vt:lpstr>Arial</vt:lpstr>
      <vt:lpstr>Arial Narrow</vt:lpstr>
      <vt:lpstr>Calibri</vt:lpstr>
      <vt:lpstr>Calibri Light</vt:lpstr>
      <vt:lpstr>Office 佈景主題</vt:lpstr>
      <vt:lpstr>憑證金鑰庫(KeyStore)及信任庫(TrustStore) 製作教學</vt:lpstr>
      <vt:lpstr>PowerPoint 簡報</vt:lpstr>
      <vt:lpstr>憑證金鑰庫(KeyStore)製作邏輯說明</vt:lpstr>
      <vt:lpstr>Step 1: 開始建立初始金鑰對(key pair)</vt:lpstr>
      <vt:lpstr>Step 1-1: 輸入憑證屬性</vt:lpstr>
      <vt:lpstr>Step 1-2: 設定憑證別名及金鑰對密碼</vt:lpstr>
      <vt:lpstr>Step 1-3: 儲存金鑰對</vt:lpstr>
      <vt:lpstr>Step 2: 產製憑證請求檔(.csr)</vt:lpstr>
      <vt:lpstr>Step 3 請依照step1~step2指引，產出不同憑證之共計2個.csr 以.csr向GCA提出申請</vt:lpstr>
      <vt:lpstr>PowerPoint 簡報</vt:lpstr>
      <vt:lpstr>PowerPoint 簡報</vt:lpstr>
      <vt:lpstr>Step 6 請依照step5-1~step5-2指引，產出兩張憑證各自的.pem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憑證信任庫(TrustStore)製作邏輯說明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製作keystore</dc:title>
  <dc:creator>nezuko GSP</dc:creator>
  <cp:lastModifiedBy>GENNI 陳</cp:lastModifiedBy>
  <cp:revision>79</cp:revision>
  <dcterms:created xsi:type="dcterms:W3CDTF">2022-11-08T07:25:07Z</dcterms:created>
  <dcterms:modified xsi:type="dcterms:W3CDTF">2024-05-15T01:19:07Z</dcterms:modified>
</cp:coreProperties>
</file>